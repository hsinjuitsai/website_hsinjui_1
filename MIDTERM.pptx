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7" r:id="rId2"/>
    <p:sldId id="259" r:id="rId3"/>
    <p:sldId id="262" r:id="rId4"/>
    <p:sldId id="258" r:id="rId5"/>
    <p:sldId id="261" r:id="rId6"/>
    <p:sldId id="263" r:id="rId7"/>
    <p:sldId id="260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6F38A"/>
    <a:srgbClr val="F9F7B1"/>
    <a:srgbClr val="B8DAB8"/>
    <a:srgbClr val="386A38"/>
    <a:srgbClr val="2D5531"/>
    <a:srgbClr val="1B3D1E"/>
    <a:srgbClr val="F3F3F3"/>
    <a:srgbClr val="5F8670"/>
    <a:srgbClr val="9AB8A7"/>
    <a:srgbClr val="A4E0B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8695" autoAdjust="0"/>
  </p:normalViewPr>
  <p:slideViewPr>
    <p:cSldViewPr snapToGrid="0" snapToObjects="1">
      <p:cViewPr varScale="1">
        <p:scale>
          <a:sx n="57" d="100"/>
          <a:sy n="57" d="100"/>
        </p:scale>
        <p:origin x="1540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55" d="100"/>
          <a:sy n="55" d="100"/>
        </p:scale>
        <p:origin x="2604" y="5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BA59F7-7268-4A90-8E2D-AC4FDE2BA82E}" type="datetimeFigureOut">
              <a:rPr lang="zh-TW" altLang="en-US" smtClean="0"/>
              <a:t>2026/1/14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85D601-1251-4B0F-B295-9D248557F18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011881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85D601-1251-4B0F-B295-9D248557F184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380774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責任分工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85D601-1251-4B0F-B295-9D248557F184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822990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智慧感知，香氛自動調節</a:t>
            </a:r>
          </a:p>
          <a:p>
            <a:r>
              <a:rPr lang="zh-TW" altLang="en-US" dirty="0"/>
              <a:t>系統能即時感知使用者收聽的音樂情緒及當地天氣狀況，自動演算並調整香氛配方，讓香氣隨環境變化自然流動，減少使用者手動調整負擔。</a:t>
            </a:r>
          </a:p>
          <a:p>
            <a:endParaRPr lang="zh-TW" altLang="en-US" dirty="0"/>
          </a:p>
          <a:p>
            <a:r>
              <a:rPr lang="zh-TW" altLang="en-US" dirty="0"/>
              <a:t>個人化學習，持續優化體驗</a:t>
            </a:r>
          </a:p>
          <a:p>
            <a:r>
              <a:rPr lang="zh-TW" altLang="en-US" dirty="0"/>
              <a:t>透過使用者對香氛喜好的回饋與行為數據，模型持續學習和優化，打造專屬個人的香氛體驗，提升使用滿意度與黏著度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85D601-1251-4B0F-B295-9D248557F184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129633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Spotify </a:t>
            </a:r>
            <a:r>
              <a:rPr lang="zh-TW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音訊特徵心理感受氣味邏輯轉化 </a:t>
            </a:r>
            <a:r>
              <a:rPr lang="en-US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(Mapping Logic)Danceability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舞曲度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節奏強弱、律動感</a:t>
            </a:r>
            <a:r>
              <a:rPr lang="zh-TW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氣味的「擴散速度」與「活潑度」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：高舞曲度對應具爆發力的氣味（如氣泡感柑橘），低舞曲度對應穩定且線性釋放的氣味。</a:t>
            </a:r>
            <a:r>
              <a:rPr lang="en-US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Acousticness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原音度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類比 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vs. 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數位、自然 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vs. 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人造</a:t>
            </a:r>
            <a:r>
              <a:rPr lang="zh-TW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氣味的「素材真實感」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：高原音度對應大地色系、草本、未加工的原木味；低原音度（電音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合成器）對應冷調、金屬感、臭氧或現代工業香調。</a:t>
            </a:r>
            <a:endParaRPr lang="en-US" altLang="zh-TW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TW" altLang="en-US" b="1" dirty="0"/>
              <a:t>普魯斯特效應 </a:t>
            </a:r>
            <a:r>
              <a:rPr lang="en-US" altLang="zh-TW" b="1" dirty="0"/>
              <a:t>(Proust Effect) </a:t>
            </a:r>
            <a:r>
              <a:rPr lang="zh-TW" altLang="en-US" b="1" dirty="0"/>
              <a:t>的主動觸發」</a:t>
            </a:r>
            <a:r>
              <a:rPr lang="zh-TW" altLang="en-US" dirty="0"/>
              <a:t> 系統不只是隨機噴灑香味，而是利用</a:t>
            </a:r>
            <a:r>
              <a:rPr lang="zh-TW" altLang="en-US" b="1" dirty="0"/>
              <a:t>條件反射</a:t>
            </a:r>
            <a:r>
              <a:rPr lang="zh-TW" altLang="en-US" dirty="0"/>
              <a:t>原理。透過長期同步特定的音樂能量與特定的氣味比例，系統能幫助使用者建立專屬的「情緒錨點」。例如：當系統偵測到使用者正在聽「工作專注清單」並伴隨「清新柑橘調」時，大腦會自動進入高效率狀態。</a:t>
            </a:r>
            <a:br>
              <a:rPr lang="en-US" altLang="zh-TW" dirty="0"/>
            </a:br>
            <a:r>
              <a:rPr lang="en-US" altLang="zh-TW" b="1" dirty="0"/>
              <a:t>1. </a:t>
            </a:r>
            <a:r>
              <a:rPr lang="zh-TW" altLang="en-US" b="1" dirty="0"/>
              <a:t>跨感官一致性 </a:t>
            </a:r>
            <a:r>
              <a:rPr lang="en-US" altLang="zh-TW" b="1" dirty="0"/>
              <a:t>(Cross-modal Correspondences)</a:t>
            </a:r>
          </a:p>
          <a:p>
            <a:r>
              <a:rPr lang="zh-TW" altLang="en-US" dirty="0"/>
              <a:t>這解釋了為什麼你的 </a:t>
            </a:r>
            <a:r>
              <a:rPr lang="en-US" altLang="zh-TW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Danceability</a:t>
            </a:r>
            <a:r>
              <a:rPr lang="zh-TW" altLang="en-US" dirty="0"/>
              <a:t> 或 </a:t>
            </a:r>
            <a:r>
              <a:rPr lang="en-US" altLang="zh-TW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Acousticness</a:t>
            </a:r>
            <a:r>
              <a:rPr lang="zh-TW" altLang="en-US" dirty="0"/>
              <a:t> 數據需要對應特定的氣味。</a:t>
            </a:r>
          </a:p>
          <a:p>
            <a:r>
              <a:rPr lang="zh-TW" altLang="en-US" b="1" dirty="0"/>
              <a:t>理論內容：</a:t>
            </a:r>
            <a:r>
              <a:rPr lang="zh-TW" altLang="en-US" dirty="0"/>
              <a:t> 大腦在處理不同感官資訊時，會有一種天生的「對應關係」。例如：人類傾向於將「高頻的聲音」與「明亮、酸味、細膩的紋理」聯繫在一起；將「低頻的聲音」與「苦味、沉重、粗糙的紋理」連結。</a:t>
            </a:r>
          </a:p>
          <a:p>
            <a:r>
              <a:rPr lang="zh-TW" altLang="en-US" b="1" dirty="0"/>
              <a:t>專案應用：</a:t>
            </a:r>
            <a:r>
              <a:rPr lang="zh-TW" altLang="en-US" dirty="0"/>
              <a:t> 當 </a:t>
            </a:r>
            <a:r>
              <a:rPr lang="en-US" altLang="zh-TW" dirty="0"/>
              <a:t>Spotify </a:t>
            </a:r>
            <a:r>
              <a:rPr lang="zh-TW" altLang="en-US" dirty="0"/>
              <a:t>偵測到 </a:t>
            </a:r>
            <a:r>
              <a:rPr lang="zh-TW" altLang="en-US" b="1" dirty="0"/>
              <a:t>高 </a:t>
            </a:r>
            <a:r>
              <a:rPr lang="en-US" altLang="zh-TW" b="1" dirty="0"/>
              <a:t>Acousticness (</a:t>
            </a:r>
            <a:r>
              <a:rPr lang="zh-TW" altLang="en-US" b="1" dirty="0"/>
              <a:t>原音感</a:t>
            </a:r>
            <a:r>
              <a:rPr lang="en-US" altLang="zh-TW" b="1" dirty="0"/>
              <a:t>)</a:t>
            </a:r>
            <a:r>
              <a:rPr lang="zh-TW" altLang="en-US" dirty="0"/>
              <a:t>，使用者預期的是「自然、不修飾」的感官。如果你此時噴出「人工合成味」很重的化學香味，大腦會產生認知失調。你的演算法正是為了達成「感官的一致性」來降低認知負荷。</a:t>
            </a:r>
          </a:p>
          <a:p>
            <a:r>
              <a:rPr lang="en-US" altLang="zh-TW" b="1" dirty="0"/>
              <a:t>2. </a:t>
            </a:r>
            <a:r>
              <a:rPr lang="zh-TW" altLang="en-US" b="1" dirty="0"/>
              <a:t>古典制約與情緒錨點 </a:t>
            </a:r>
            <a:r>
              <a:rPr lang="en-US" altLang="zh-TW" b="1" dirty="0"/>
              <a:t>(Classical Conditioning &amp; Emotional Anchoring)</a:t>
            </a:r>
          </a:p>
          <a:p>
            <a:r>
              <a:rPr lang="zh-TW" altLang="en-US" dirty="0"/>
              <a:t>這部分能強化你專案的「長期使用價值」。</a:t>
            </a:r>
          </a:p>
          <a:p>
            <a:r>
              <a:rPr lang="zh-TW" altLang="en-US" b="1" dirty="0"/>
              <a:t>理論內容：</a:t>
            </a:r>
            <a:r>
              <a:rPr lang="zh-TW" altLang="en-US" dirty="0"/>
              <a:t> 這是行為主義心理學的基礎。當「特定的氣味」與「特定的情緒狀態（由音樂導引）」反覆同時出現，氣味就會變成一個「制約刺激」。</a:t>
            </a:r>
          </a:p>
          <a:p>
            <a:r>
              <a:rPr lang="zh-TW" altLang="en-US" b="1" dirty="0"/>
              <a:t>專案應用：</a:t>
            </a:r>
            <a:r>
              <a:rPr lang="zh-TW" altLang="en-US" dirty="0"/>
              <a:t> 你可以跟評審強調：</a:t>
            </a:r>
            <a:r>
              <a:rPr lang="en-US" altLang="zh-TW" b="1" dirty="0"/>
              <a:t>SCENT-IFY </a:t>
            </a:r>
            <a:r>
              <a:rPr lang="zh-TW" altLang="en-US" b="1" dirty="0"/>
              <a:t>是一個「情緒教練」</a:t>
            </a:r>
            <a:r>
              <a:rPr lang="zh-TW" altLang="en-US" dirty="0"/>
              <a:t>。如果使用者每次專注工作時都聽特定的 </a:t>
            </a:r>
            <a:r>
              <a:rPr lang="en-US" altLang="zh-TW" dirty="0"/>
              <a:t>Lo-fi </a:t>
            </a:r>
            <a:r>
              <a:rPr lang="zh-TW" altLang="en-US" dirty="0"/>
              <a:t>音樂並配上你系統調配的「迷迭香</a:t>
            </a:r>
            <a:r>
              <a:rPr lang="en-US" altLang="zh-TW" dirty="0"/>
              <a:t>+</a:t>
            </a:r>
            <a:r>
              <a:rPr lang="zh-TW" altLang="en-US" dirty="0"/>
              <a:t>雪松」，久而久之，即使不聽音樂，只要聞到這個味道，大腦就會自動進入「專注模式」。這就是所謂的 </a:t>
            </a:r>
            <a:r>
              <a:rPr lang="zh-TW" altLang="en-US" b="1" dirty="0"/>
              <a:t>情緒錨點（</a:t>
            </a:r>
            <a:r>
              <a:rPr lang="en-US" altLang="zh-TW" b="1" dirty="0"/>
              <a:t>Emotional Anchor</a:t>
            </a:r>
            <a:r>
              <a:rPr lang="zh-TW" altLang="en-US" b="1" dirty="0"/>
              <a:t>）</a:t>
            </a:r>
            <a:r>
              <a:rPr lang="zh-TW" altLang="en-US" dirty="0"/>
              <a:t>。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en-US" altLang="zh-TW" dirty="0"/>
            </a:br>
            <a:endParaRPr lang="zh-TW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85D601-1251-4B0F-B295-9D248557F184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075315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1" dirty="0"/>
              <a:t>第一象限 </a:t>
            </a:r>
            <a:r>
              <a:rPr lang="en-US" altLang="zh-TW" b="1" dirty="0"/>
              <a:t>(Q1)</a:t>
            </a:r>
            <a:r>
              <a:rPr lang="zh-TW" altLang="en-US" b="1" dirty="0"/>
              <a:t>：</a:t>
            </a:r>
            <a:r>
              <a:rPr lang="en-US" altLang="zh-TW" b="1" dirty="0"/>
              <a:t>SCENT TO YOU </a:t>
            </a:r>
            <a:r>
              <a:rPr lang="zh-TW" altLang="en-US" b="1" dirty="0"/>
              <a:t>的競爭區（高自動化 </a:t>
            </a:r>
            <a:r>
              <a:rPr lang="en-US" altLang="zh-TW" b="1" dirty="0"/>
              <a:t>+ </a:t>
            </a:r>
            <a:r>
              <a:rPr lang="zh-TW" altLang="en-US" b="1" dirty="0"/>
              <a:t>跨感官）</a:t>
            </a:r>
          </a:p>
          <a:p>
            <a:r>
              <a:rPr lang="zh-TW" altLang="en-US" dirty="0"/>
              <a:t>目前此象限的「家用」產品極少，大多屬於實驗性或專業設備：</a:t>
            </a:r>
          </a:p>
          <a:p>
            <a:r>
              <a:rPr lang="en-US" altLang="zh-TW" b="1" dirty="0" err="1"/>
              <a:t>Sensorwake</a:t>
            </a:r>
            <a:r>
              <a:rPr lang="en-US" altLang="zh-TW" b="1" dirty="0"/>
              <a:t> (</a:t>
            </a:r>
            <a:r>
              <a:rPr lang="zh-TW" altLang="en-US" b="1" dirty="0"/>
              <a:t>嗅覺鬧鐘</a:t>
            </a:r>
            <a:r>
              <a:rPr lang="en-US" altLang="zh-TW" b="1" dirty="0"/>
              <a:t>)</a:t>
            </a:r>
            <a:r>
              <a:rPr lang="zh-TW" altLang="en-US" b="1" dirty="0"/>
              <a:t>：</a:t>
            </a:r>
            <a:r>
              <a:rPr lang="zh-TW" altLang="en-US" dirty="0"/>
              <a:t> 連結時間（聽覺）與氣味，但在「自動化環境感知」上不如你的計畫靈活。</a:t>
            </a:r>
          </a:p>
          <a:p>
            <a:r>
              <a:rPr lang="en-US" altLang="zh-TW" b="1" dirty="0" err="1"/>
              <a:t>Aromajoin</a:t>
            </a:r>
            <a:r>
              <a:rPr lang="zh-TW" altLang="en-US" b="1" dirty="0"/>
              <a:t>：</a:t>
            </a:r>
            <a:r>
              <a:rPr lang="zh-TW" altLang="en-US" dirty="0"/>
              <a:t> 日本開發的數位氣味噴霧，主要用於搭配 </a:t>
            </a:r>
            <a:r>
              <a:rPr lang="en-US" altLang="zh-TW" dirty="0"/>
              <a:t>VR </a:t>
            </a:r>
            <a:r>
              <a:rPr lang="zh-TW" altLang="en-US" dirty="0"/>
              <a:t>或影片，能精準同步影像與氣味，是技術面上最強勁的潛在對手，但目前缺乏「生活數據（天氣</a:t>
            </a:r>
            <a:r>
              <a:rPr lang="en-US" altLang="zh-TW" dirty="0"/>
              <a:t>/</a:t>
            </a:r>
            <a:r>
              <a:rPr lang="zh-TW" altLang="en-US" dirty="0"/>
              <a:t>音樂）」的整合。</a:t>
            </a:r>
          </a:p>
          <a:p>
            <a:r>
              <a:rPr lang="zh-TW" altLang="en-US" b="1" dirty="0"/>
              <a:t>第二象限 </a:t>
            </a:r>
            <a:r>
              <a:rPr lang="en-US" altLang="zh-TW" b="1" dirty="0"/>
              <a:t>(Q2)</a:t>
            </a:r>
            <a:r>
              <a:rPr lang="zh-TW" altLang="en-US" b="1" dirty="0"/>
              <a:t>：定時</a:t>
            </a:r>
            <a:r>
              <a:rPr lang="en-US" altLang="zh-TW" b="1" dirty="0"/>
              <a:t>/</a:t>
            </a:r>
            <a:r>
              <a:rPr lang="zh-TW" altLang="en-US" b="1" dirty="0"/>
              <a:t>感應式（高自動化 </a:t>
            </a:r>
            <a:r>
              <a:rPr lang="en-US" altLang="zh-TW" b="1" dirty="0"/>
              <a:t>+ </a:t>
            </a:r>
            <a:r>
              <a:rPr lang="zh-TW" altLang="en-US" b="1" dirty="0"/>
              <a:t>單一感官）</a:t>
            </a:r>
          </a:p>
          <a:p>
            <a:r>
              <a:rPr lang="zh-TW" altLang="en-US" dirty="0"/>
              <a:t>這類產品強調「不用手動」，但缺乏智慧。</a:t>
            </a:r>
          </a:p>
          <a:p>
            <a:r>
              <a:rPr lang="en-US" altLang="zh-TW" b="1" dirty="0"/>
              <a:t>Air Wick / Glade</a:t>
            </a:r>
            <a:r>
              <a:rPr lang="zh-TW" altLang="en-US" b="1" dirty="0"/>
              <a:t>：</a:t>
            </a:r>
            <a:r>
              <a:rPr lang="zh-TW" altLang="en-US" dirty="0"/>
              <a:t> 超市常見的自動噴霧，雖然會「自動噴」，但它不認識使用者，也不管現在是什麼心情或天氣。</a:t>
            </a:r>
          </a:p>
          <a:p>
            <a:r>
              <a:rPr lang="zh-TW" altLang="en-US" b="1" dirty="0"/>
              <a:t>飯店式擴香系統：</a:t>
            </a:r>
            <a:r>
              <a:rPr lang="zh-TW" altLang="en-US" dirty="0"/>
              <a:t> 許多商用空間使用的大型擴香機，定時定量，穩定但死板。</a:t>
            </a:r>
          </a:p>
          <a:p>
            <a:r>
              <a:rPr lang="zh-TW" altLang="en-US" b="1" dirty="0"/>
              <a:t>第三象限 </a:t>
            </a:r>
            <a:r>
              <a:rPr lang="en-US" altLang="zh-TW" b="1" dirty="0"/>
              <a:t>(Bottom-Left)</a:t>
            </a:r>
            <a:r>
              <a:rPr lang="zh-TW" altLang="en-US" b="1" dirty="0"/>
              <a:t>：傳統體驗（手動 </a:t>
            </a:r>
            <a:r>
              <a:rPr lang="en-US" altLang="zh-TW" b="1" dirty="0"/>
              <a:t>+ </a:t>
            </a:r>
            <a:r>
              <a:rPr lang="zh-TW" altLang="en-US" b="1" dirty="0"/>
              <a:t>單一感官）</a:t>
            </a:r>
          </a:p>
          <a:p>
            <a:r>
              <a:rPr lang="en-US" altLang="zh-TW" b="1" dirty="0"/>
              <a:t>Jo Malone / </a:t>
            </a:r>
            <a:r>
              <a:rPr lang="en-US" altLang="zh-TW" b="1" dirty="0" err="1"/>
              <a:t>Diptyque</a:t>
            </a:r>
            <a:r>
              <a:rPr lang="en-US" altLang="zh-TW" b="1" dirty="0"/>
              <a:t> / </a:t>
            </a:r>
            <a:r>
              <a:rPr lang="zh-TW" altLang="en-US" b="1" dirty="0"/>
              <a:t>無印良品：</a:t>
            </a:r>
            <a:r>
              <a:rPr lang="zh-TW" altLang="en-US" dirty="0"/>
              <a:t> 這些品牌賣的是「品牌價值」與「生活儀式感」。雖然在技術競爭力上不高，但它們佔據了消費者的</a:t>
            </a:r>
            <a:r>
              <a:rPr lang="zh-TW" altLang="en-US" b="1" dirty="0"/>
              <a:t>心智地位</a:t>
            </a:r>
            <a:r>
              <a:rPr lang="zh-TW" altLang="en-US" dirty="0"/>
              <a:t>。</a:t>
            </a:r>
            <a:r>
              <a:rPr lang="en-US" altLang="zh-TW" dirty="0"/>
              <a:t>SCENT TO YOU</a:t>
            </a:r>
            <a:r>
              <a:rPr lang="zh-TW" altLang="en-US" dirty="0"/>
              <a:t>若要勝出，必須在氣味品質上不能輸給這些傳統大牌。</a:t>
            </a:r>
          </a:p>
          <a:p>
            <a:r>
              <a:rPr lang="zh-TW" altLang="en-US" b="1" dirty="0"/>
              <a:t>第四象限 </a:t>
            </a:r>
            <a:r>
              <a:rPr lang="en-US" altLang="zh-TW" b="1" dirty="0"/>
              <a:t>(Bottom-Right)</a:t>
            </a:r>
            <a:r>
              <a:rPr lang="zh-TW" altLang="en-US" b="1" dirty="0"/>
              <a:t>：</a:t>
            </a:r>
            <a:r>
              <a:rPr lang="en-US" altLang="zh-TW" b="1" dirty="0"/>
              <a:t>App </a:t>
            </a:r>
            <a:r>
              <a:rPr lang="zh-TW" altLang="en-US" b="1" dirty="0"/>
              <a:t>控制（低自動化 </a:t>
            </a:r>
            <a:r>
              <a:rPr lang="en-US" altLang="zh-TW" b="1" dirty="0"/>
              <a:t>+ </a:t>
            </a:r>
            <a:r>
              <a:rPr lang="zh-TW" altLang="en-US" b="1" dirty="0"/>
              <a:t>單一感官）</a:t>
            </a:r>
          </a:p>
          <a:p>
            <a:r>
              <a:rPr lang="zh-TW" altLang="en-US" dirty="0"/>
              <a:t>這是你最直接的「科技對手」：</a:t>
            </a:r>
          </a:p>
          <a:p>
            <a:r>
              <a:rPr lang="en-US" altLang="zh-TW" b="1" dirty="0"/>
              <a:t>Pura / Aera</a:t>
            </a:r>
            <a:r>
              <a:rPr lang="zh-TW" altLang="en-US" b="1" dirty="0"/>
              <a:t>：</a:t>
            </a:r>
            <a:r>
              <a:rPr lang="zh-TW" altLang="en-US" dirty="0"/>
              <a:t> 這是目前美加市場最紅的智慧香氛，可以透過手機調整濃度、設定排程，甚至感應你回家就自動噴（</a:t>
            </a:r>
            <a:r>
              <a:rPr lang="en-US" altLang="zh-TW" dirty="0"/>
              <a:t>Geofencing</a:t>
            </a:r>
            <a:r>
              <a:rPr lang="zh-TW" altLang="en-US" dirty="0"/>
              <a:t>）。但它們的缺點是：</a:t>
            </a:r>
            <a:r>
              <a:rPr lang="zh-TW" altLang="en-US" b="1" dirty="0"/>
              <a:t>仍需要使用者去設定。</a:t>
            </a:r>
            <a:r>
              <a:rPr lang="zh-TW" altLang="en-US" dirty="0"/>
              <a:t> 它們不會因為你現在聽的是搖滾樂就自動換味道。</a:t>
            </a:r>
          </a:p>
          <a:p>
            <a:r>
              <a:rPr lang="en-US" altLang="zh-TW" b="1" dirty="0"/>
              <a:t>Moodo</a:t>
            </a:r>
            <a:r>
              <a:rPr lang="zh-TW" altLang="en-US" b="1" dirty="0"/>
              <a:t>：</a:t>
            </a:r>
            <a:r>
              <a:rPr lang="zh-TW" altLang="en-US" dirty="0"/>
              <a:t> 雖然可以透過 </a:t>
            </a:r>
            <a:r>
              <a:rPr lang="en-US" altLang="zh-TW" dirty="0"/>
              <a:t>App </a:t>
            </a:r>
            <a:r>
              <a:rPr lang="zh-TW" altLang="en-US" dirty="0"/>
              <a:t>調配四種膠囊比例，但在「自動觸發機制」上仍停留在手動或簡單排程，尚未做到「環境數據驅動」。</a:t>
            </a:r>
          </a:p>
          <a:p>
            <a:br>
              <a:rPr lang="zh-TW" altLang="en-US" dirty="0"/>
            </a:br>
            <a:endParaRPr lang="zh-TW" altLang="en-US" dirty="0"/>
          </a:p>
          <a:p>
            <a:r>
              <a:rPr lang="en-US" altLang="zh-TW" b="1" dirty="0"/>
              <a:t>SCENT-IFY </a:t>
            </a:r>
            <a:r>
              <a:rPr lang="zh-TW" altLang="en-US" b="1" dirty="0"/>
              <a:t>的戰略定位優勢 </a:t>
            </a:r>
            <a:r>
              <a:rPr lang="en-US" altLang="zh-TW" b="1" dirty="0"/>
              <a:t>(Value Proposition)</a:t>
            </a:r>
          </a:p>
          <a:p>
            <a:r>
              <a:rPr lang="zh-TW" altLang="en-US" dirty="0"/>
              <a:t>根據你的四象限圖，你可以強調以下三個差異化標籤：</a:t>
            </a:r>
          </a:p>
          <a:p>
            <a:r>
              <a:rPr lang="zh-TW" altLang="en-US" b="1" dirty="0"/>
              <a:t>從「主動操作」轉向「被动體驗」 </a:t>
            </a:r>
            <a:r>
              <a:rPr lang="en-US" altLang="zh-TW" b="1" dirty="0"/>
              <a:t>(Passive Experience)</a:t>
            </a:r>
            <a:r>
              <a:rPr lang="zh-TW" altLang="en-US" b="1" dirty="0"/>
              <a:t>：</a:t>
            </a:r>
            <a:endParaRPr lang="zh-TW" altLang="en-US" dirty="0"/>
          </a:p>
          <a:p>
            <a:pPr lvl="1"/>
            <a:r>
              <a:rPr lang="zh-TW" altLang="en-US" dirty="0"/>
              <a:t>對手（如 </a:t>
            </a:r>
            <a:r>
              <a:rPr lang="en-US" altLang="zh-TW" dirty="0"/>
              <a:t>Pura</a:t>
            </a:r>
            <a:r>
              <a:rPr lang="zh-TW" altLang="en-US" dirty="0"/>
              <a:t>）：你要去 </a:t>
            </a:r>
            <a:r>
              <a:rPr lang="en-US" altLang="zh-TW" dirty="0"/>
              <a:t>App </a:t>
            </a:r>
            <a:r>
              <a:rPr lang="zh-TW" altLang="en-US" dirty="0"/>
              <a:t>選味道、調濃度。</a:t>
            </a:r>
          </a:p>
          <a:p>
            <a:pPr lvl="1"/>
            <a:r>
              <a:rPr lang="en-US" altLang="zh-TW" b="1" dirty="0"/>
              <a:t>SCENT-IFY</a:t>
            </a:r>
            <a:r>
              <a:rPr lang="zh-TW" altLang="en-US" b="1" dirty="0"/>
              <a:t>：</a:t>
            </a:r>
            <a:r>
              <a:rPr lang="zh-TW" altLang="en-US" dirty="0"/>
              <a:t> 你只需要打開 </a:t>
            </a:r>
            <a:r>
              <a:rPr lang="en-US" altLang="zh-TW" dirty="0"/>
              <a:t>Spotify </a:t>
            </a:r>
            <a:r>
              <a:rPr lang="zh-TW" altLang="en-US" dirty="0"/>
              <a:t>聽歌，氣味會自動根據旋律與天氣調整。</a:t>
            </a:r>
          </a:p>
          <a:p>
            <a:r>
              <a:rPr lang="zh-TW" altLang="en-US" b="1" dirty="0"/>
              <a:t>數據驅動的嗅覺情緒：</a:t>
            </a:r>
            <a:endParaRPr lang="zh-TW" altLang="en-US" dirty="0"/>
          </a:p>
          <a:p>
            <a:pPr lvl="1"/>
            <a:r>
              <a:rPr lang="zh-TW" altLang="en-US" dirty="0"/>
              <a:t>傳統設備無法理解使用者的情緒狀態，但 </a:t>
            </a:r>
            <a:r>
              <a:rPr lang="en-US" altLang="zh-TW" dirty="0"/>
              <a:t>SCENT-IFY </a:t>
            </a:r>
            <a:r>
              <a:rPr lang="zh-TW" altLang="en-US" dirty="0"/>
              <a:t>透過 </a:t>
            </a:r>
            <a:r>
              <a:rPr lang="en-US" altLang="zh-TW" b="1" dirty="0"/>
              <a:t>Spotify API</a:t>
            </a:r>
            <a:r>
              <a:rPr lang="zh-TW" altLang="en-US" dirty="0"/>
              <a:t> 抓取的音樂情緒數據（</a:t>
            </a:r>
            <a:r>
              <a:rPr lang="en-US" altLang="zh-TW" dirty="0"/>
              <a:t>BPM</a:t>
            </a:r>
            <a:r>
              <a:rPr lang="zh-TW" altLang="en-US" dirty="0"/>
              <a:t>、能量值），讓氣味成為情緒調節的一環。</a:t>
            </a:r>
          </a:p>
          <a:p>
            <a:r>
              <a:rPr lang="zh-TW" altLang="en-US" b="1" dirty="0"/>
              <a:t>情境感知 </a:t>
            </a:r>
            <a:r>
              <a:rPr lang="en-US" altLang="zh-TW" b="1" dirty="0"/>
              <a:t>(Context-Awareness)</a:t>
            </a:r>
            <a:r>
              <a:rPr lang="zh-TW" altLang="en-US" b="1" dirty="0"/>
              <a:t>：</a:t>
            </a:r>
            <a:endParaRPr lang="zh-TW" altLang="en-US" dirty="0"/>
          </a:p>
          <a:p>
            <a:pPr lvl="1"/>
            <a:r>
              <a:rPr lang="zh-TW" altLang="en-US" dirty="0"/>
              <a:t>將「天氣 </a:t>
            </a:r>
            <a:r>
              <a:rPr lang="en-US" altLang="zh-TW" dirty="0"/>
              <a:t>API</a:t>
            </a:r>
            <a:r>
              <a:rPr lang="zh-TW" altLang="en-US" dirty="0"/>
              <a:t>」納入邏輯。下雨天的濕冷感配上溫暖的木質調，這種「即時反應環境」的功能是目前市面上智慧香氛機最缺乏的。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功能維度</a:t>
            </a:r>
            <a:r>
              <a:rPr lang="en-US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SCENT-</a:t>
            </a:r>
            <a:r>
              <a:rPr lang="en-US" altLang="zh-TW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IFYMoodoPura</a:t>
            </a:r>
            <a:r>
              <a:rPr lang="en-US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/ Aera</a:t>
            </a:r>
            <a:r>
              <a:rPr lang="zh-TW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傳統智慧香氛機驅動核心</a:t>
            </a:r>
            <a:r>
              <a:rPr lang="en-US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API </a:t>
            </a:r>
            <a:r>
              <a:rPr lang="zh-TW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自動化 </a:t>
            </a:r>
            <a:r>
              <a:rPr lang="en-US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(Spotify/</a:t>
            </a:r>
            <a:r>
              <a:rPr lang="zh-TW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天氣</a:t>
            </a:r>
            <a:r>
              <a:rPr lang="en-US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手動選取 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 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定時排程地理圍欄 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 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定時排程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 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開關 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 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實體按鈕</a:t>
            </a:r>
            <a:r>
              <a:rPr lang="zh-TW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感官連結多維跨模態 </a:t>
            </a:r>
            <a:r>
              <a:rPr lang="en-US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zh-TW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聽覺</a:t>
            </a:r>
            <a:r>
              <a:rPr lang="en-US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</a:t>
            </a:r>
            <a:r>
              <a:rPr lang="zh-TW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環境</a:t>
            </a:r>
            <a:r>
              <a:rPr lang="en-US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</a:t>
            </a:r>
            <a:r>
              <a:rPr lang="zh-TW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嗅覺</a:t>
            </a:r>
            <a:r>
              <a:rPr lang="en-US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單一 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嗅覺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單一 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嗅覺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部分燈光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單一 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嗅覺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zh-TW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情境感知即時動態調整 </a:t>
            </a:r>
            <a:r>
              <a:rPr lang="en-US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(Real-time)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靜態預設模式靜態預設模式無感知</a:t>
            </a:r>
            <a:r>
              <a:rPr lang="zh-TW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氣味組合</a:t>
            </a:r>
            <a:r>
              <a:rPr lang="en-US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 </a:t>
            </a:r>
            <a:r>
              <a:rPr lang="zh-TW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演算法自動調配比例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使用者手動調配混香單一氣味切換單一氣味</a:t>
            </a:r>
            <a:r>
              <a:rPr lang="zh-TW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互動模式被動無感 </a:t>
            </a:r>
            <a:r>
              <a:rPr lang="en-US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(Passive)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主動操作 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(Proactive)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半主動 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需設定排程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全主動 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需手動操作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zh-TW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開放性高 </a:t>
            </a:r>
            <a:r>
              <a:rPr lang="en-US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zh-TW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支援外部數據串接</a:t>
            </a:r>
            <a:r>
              <a:rPr lang="en-US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低 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封閉式生態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低 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封閉式生態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極低</a:t>
            </a:r>
          </a:p>
          <a:p>
            <a:endParaRPr lang="zh-TW" altLang="en-US" dirty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85D601-1251-4B0F-B295-9D248557F184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461671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85D601-1251-4B0F-B295-9D248557F184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154835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jpg"/><Relationship Id="rId7" Type="http://schemas.microsoft.com/office/2007/relationships/hdphoto" Target="../media/hdphoto2.wdp"/><Relationship Id="rId12" Type="http://schemas.openxmlformats.org/officeDocument/2006/relationships/image" Target="../media/image7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microsoft.com/office/2007/relationships/hdphoto" Target="../media/hdphoto4.wdp"/><Relationship Id="rId5" Type="http://schemas.microsoft.com/office/2007/relationships/hdphoto" Target="../media/hdphoto1.wdp"/><Relationship Id="rId10" Type="http://schemas.openxmlformats.org/officeDocument/2006/relationships/image" Target="../media/image6.png"/><Relationship Id="rId4" Type="http://schemas.openxmlformats.org/officeDocument/2006/relationships/image" Target="../media/image3.png"/><Relationship Id="rId9" Type="http://schemas.microsoft.com/office/2007/relationships/hdphoto" Target="../media/hdphoto3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4B4BB66A-9302-CC4F-D283-37B5B9E8042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pic>
        <p:nvPicPr>
          <p:cNvPr id="6" name="圖片 5" descr="一張含有 字型, 文字, 圖形, 標誌 的圖片&#10;&#10;AI 產生的內容可能不正確。">
            <a:extLst>
              <a:ext uri="{FF2B5EF4-FFF2-40B4-BE49-F238E27FC236}">
                <a16:creationId xmlns:a16="http://schemas.microsoft.com/office/drawing/2014/main" id="{906F1CCC-F31A-E27A-22F4-921A19AAC9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174" y="2235342"/>
            <a:ext cx="7809653" cy="1920406"/>
          </a:xfrm>
          <a:prstGeom prst="rect">
            <a:avLst/>
          </a:prstGeom>
          <a:noFill/>
          <a:effectLst>
            <a:outerShdw blurRad="50800" dist="50800" dir="5400000" algn="ctr" rotWithShape="0">
              <a:srgbClr val="000000">
                <a:alpha val="69000"/>
              </a:srgbClr>
            </a:outerShdw>
          </a:effectLst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E2ED4552-C686-802E-100F-03506CD31990}"/>
              </a:ext>
            </a:extLst>
          </p:cNvPr>
          <p:cNvSpPr txBox="1"/>
          <p:nvPr/>
        </p:nvSpPr>
        <p:spPr>
          <a:xfrm>
            <a:off x="3652796" y="3769382"/>
            <a:ext cx="5338618" cy="52322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zh-TW" altLang="en-US" sz="2800" b="1" kern="0" spc="170" dirty="0">
                <a:solidFill>
                  <a:srgbClr val="8FAF9D"/>
                </a:solidFill>
                <a:effectLst>
                  <a:outerShdw blurRad="50800" dist="50800" dir="5400000" algn="ctr" rotWithShape="0">
                    <a:schemeClr val="tx1">
                      <a:alpha val="87000"/>
                    </a:schemeClr>
                  </a:outerShdw>
                </a:effectLst>
                <a:latin typeface="思源宋體 Heavy" panose="02020900000000000000" pitchFamily="18" charset="-120"/>
                <a:ea typeface="思源宋體 Heavy" panose="02020900000000000000" pitchFamily="18" charset="-120"/>
              </a:rPr>
              <a:t>你的專屬自動化調香機器人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333010-EB04-AE2B-D259-258854D65B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ACB3250-BCD0-C909-B374-66C1CA8475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9264073" cy="7047345"/>
          </a:xfrm>
          <a:prstGeom prst="rect">
            <a:avLst/>
          </a:prstGeom>
          <a:solidFill>
            <a:srgbClr val="DED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6CDC909-1744-0B3B-701A-75E4470E7F0B}"/>
              </a:ext>
            </a:extLst>
          </p:cNvPr>
          <p:cNvSpPr/>
          <p:nvPr/>
        </p:nvSpPr>
        <p:spPr>
          <a:xfrm rot="5400000">
            <a:off x="3830298" y="1613573"/>
            <a:ext cx="7047343" cy="3820201"/>
          </a:xfrm>
          <a:prstGeom prst="rect">
            <a:avLst/>
          </a:prstGeom>
          <a:solidFill>
            <a:srgbClr val="9AB8A7">
              <a:alpha val="62745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0AAB0A8-495B-4820-1351-8C93FF99D4E9}"/>
              </a:ext>
            </a:extLst>
          </p:cNvPr>
          <p:cNvSpPr/>
          <p:nvPr/>
        </p:nvSpPr>
        <p:spPr>
          <a:xfrm>
            <a:off x="2327565" y="2936032"/>
            <a:ext cx="5083328" cy="2264734"/>
          </a:xfrm>
          <a:prstGeom prst="rect">
            <a:avLst/>
          </a:prstGeom>
          <a:solidFill>
            <a:srgbClr val="F3F3F3"/>
          </a:solidFill>
          <a:ln>
            <a:noFill/>
          </a:ln>
          <a:effectLst>
            <a:outerShdw blurRad="50800" dist="50800" dir="5400000" algn="ctr" rotWithShape="0">
              <a:schemeClr val="bg1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2494CE8-0B14-4D7C-5F61-8B298749F7A3}"/>
              </a:ext>
            </a:extLst>
          </p:cNvPr>
          <p:cNvSpPr/>
          <p:nvPr/>
        </p:nvSpPr>
        <p:spPr>
          <a:xfrm>
            <a:off x="723658" y="975347"/>
            <a:ext cx="3944680" cy="2771608"/>
          </a:xfrm>
          <a:prstGeom prst="rect">
            <a:avLst/>
          </a:prstGeom>
          <a:solidFill>
            <a:srgbClr val="CAD0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0DC6BEA-6DB5-3580-5805-842CBFC7770B}"/>
              </a:ext>
            </a:extLst>
          </p:cNvPr>
          <p:cNvSpPr txBox="1"/>
          <p:nvPr/>
        </p:nvSpPr>
        <p:spPr>
          <a:xfrm>
            <a:off x="184727" y="685928"/>
            <a:ext cx="394392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spc="230" dirty="0">
                <a:latin typeface="思源宋體 Heavy" panose="02020900000000000000" pitchFamily="18" charset="-120"/>
                <a:ea typeface="思源宋體 Heavy" panose="02020900000000000000" pitchFamily="18" charset="-120"/>
              </a:rPr>
              <a:t>產品發想 </a:t>
            </a:r>
          </a:p>
        </p:txBody>
      </p:sp>
      <p:cxnSp>
        <p:nvCxnSpPr>
          <p:cNvPr id="7" name="直線接點 6">
            <a:extLst>
              <a:ext uri="{FF2B5EF4-FFF2-40B4-BE49-F238E27FC236}">
                <a16:creationId xmlns:a16="http://schemas.microsoft.com/office/drawing/2014/main" id="{6D3ECA9D-C1B5-4589-B9AA-007E3961C5D9}"/>
              </a:ext>
            </a:extLst>
          </p:cNvPr>
          <p:cNvCxnSpPr>
            <a:cxnSpLocks/>
          </p:cNvCxnSpPr>
          <p:nvPr/>
        </p:nvCxnSpPr>
        <p:spPr>
          <a:xfrm flipH="1">
            <a:off x="893135" y="1455369"/>
            <a:ext cx="2445488" cy="0"/>
          </a:xfrm>
          <a:prstGeom prst="line">
            <a:avLst/>
          </a:prstGeom>
          <a:ln w="349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圖片 10" descr="一張含有 傢俱, 服裝, 室內, 資料表 的圖片&#10;&#10;AI 產生的內容可能不正確。">
            <a:extLst>
              <a:ext uri="{FF2B5EF4-FFF2-40B4-BE49-F238E27FC236}">
                <a16:creationId xmlns:a16="http://schemas.microsoft.com/office/drawing/2014/main" id="{E7D5D1FC-A02A-01DB-E694-9C04707BD1D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5418" y="428547"/>
            <a:ext cx="3397101" cy="2264734"/>
          </a:xfrm>
          <a:prstGeom prst="rect">
            <a:avLst/>
          </a:prstGeom>
        </p:spPr>
      </p:pic>
      <p:pic>
        <p:nvPicPr>
          <p:cNvPr id="12" name="圖片 11" descr="一張含有 遊戲控制器, 電子裝置, 操縱桿, 電子產品 的圖片&#10;&#10;AI 產生的內容可能不正確。">
            <a:extLst>
              <a:ext uri="{FF2B5EF4-FFF2-40B4-BE49-F238E27FC236}">
                <a16:creationId xmlns:a16="http://schemas.microsoft.com/office/drawing/2014/main" id="{0607AA3E-E098-64B5-CE0F-795D8800B5C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4333" r="98667">
                        <a14:foregroundMark x1="93500" y1="38667" x2="93500" y2="38667"/>
                        <a14:foregroundMark x1="98667" y1="55778" x2="98667" y2="55778"/>
                        <a14:foregroundMark x1="28333" y1="31222" x2="28333" y2="31222"/>
                        <a14:foregroundMark x1="34167" y1="30667" x2="37000" y2="27556"/>
                        <a14:foregroundMark x1="21667" y1="12556" x2="6500" y2="15111"/>
                        <a14:foregroundMark x1="6500" y1="15111" x2="7000" y2="25333"/>
                        <a14:foregroundMark x1="7000" y1="25333" x2="4333" y2="28333"/>
                      </a14:backgroundRemoval>
                    </a14:imgEffect>
                  </a14:imgLayer>
                </a14:imgProps>
              </a:ext>
            </a:extLst>
          </a:blip>
          <a:srcRect t="5477" b="15138"/>
          <a:stretch>
            <a:fillRect/>
          </a:stretch>
        </p:blipFill>
        <p:spPr>
          <a:xfrm>
            <a:off x="-38148" y="3095520"/>
            <a:ext cx="2365710" cy="2688588"/>
          </a:xfrm>
          <a:prstGeom prst="rect">
            <a:avLst/>
          </a:prstGeom>
        </p:spPr>
      </p:pic>
      <p:pic>
        <p:nvPicPr>
          <p:cNvPr id="18" name="圖片 17" descr="一張含有 寫生, 圖畫, 線條藝術, 美工圖案 的圖片&#10;&#10;AI 產生的內容可能不正確。">
            <a:extLst>
              <a:ext uri="{FF2B5EF4-FFF2-40B4-BE49-F238E27FC236}">
                <a16:creationId xmlns:a16="http://schemas.microsoft.com/office/drawing/2014/main" id="{9A8F5B00-9FD6-6BFF-604F-05FD5E8BD9D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8833">
                        <a14:foregroundMark x1="29750" y1="52667" x2="34917" y2="62167"/>
                        <a14:foregroundMark x1="34917" y1="62167" x2="35083" y2="63417"/>
                        <a14:foregroundMark x1="36667" y1="48833" x2="41333" y2="55667"/>
                        <a14:foregroundMark x1="41333" y1="55667" x2="42167" y2="63417"/>
                        <a14:foregroundMark x1="42167" y1="63417" x2="41750" y2="64667"/>
                        <a14:foregroundMark x1="25833" y1="56167" x2="27000" y2="62417"/>
                        <a14:foregroundMark x1="27833" y1="36750" x2="33000" y2="26167"/>
                        <a14:foregroundMark x1="33000" y1="26167" x2="39917" y2="21917"/>
                        <a14:foregroundMark x1="39917" y1="21917" x2="49333" y2="19417"/>
                        <a14:foregroundMark x1="49333" y1="19417" x2="58833" y2="21000"/>
                        <a14:foregroundMark x1="58833" y1="21000" x2="67417" y2="26667"/>
                        <a14:foregroundMark x1="67417" y1="26667" x2="72833" y2="34750"/>
                        <a14:foregroundMark x1="72833" y1="34750" x2="74583" y2="42583"/>
                        <a14:foregroundMark x1="74583" y1="42583" x2="74000" y2="51250"/>
                        <a14:foregroundMark x1="74000" y1="51250" x2="71917" y2="54000"/>
                        <a14:foregroundMark x1="61917" y1="58000" x2="56250" y2="64083"/>
                        <a14:foregroundMark x1="56250" y1="64083" x2="56000" y2="64833"/>
                        <a14:foregroundMark x1="65167" y1="63333" x2="67583" y2="64000"/>
                        <a14:foregroundMark x1="66167" y1="60750" x2="58667" y2="66500"/>
                        <a14:foregroundMark x1="54500" y1="73583" x2="56417" y2="74917"/>
                        <a14:foregroundMark x1="55917" y1="73417" x2="57000" y2="80250"/>
                        <a14:foregroundMark x1="57750" y1="77750" x2="74417" y2="80417"/>
                        <a14:foregroundMark x1="74417" y1="80417" x2="81417" y2="78583"/>
                        <a14:foregroundMark x1="81417" y1="78583" x2="88667" y2="83583"/>
                        <a14:foregroundMark x1="88667" y1="83583" x2="97333" y2="84083"/>
                        <a14:foregroundMark x1="97333" y1="84083" x2="98833" y2="83667"/>
                        <a14:foregroundMark x1="79500" y1="77750" x2="79583" y2="77500"/>
                        <a14:foregroundMark x1="79917" y1="77333" x2="79917" y2="7733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337135">
            <a:off x="2154881" y="1803504"/>
            <a:ext cx="2807742" cy="2807742"/>
          </a:xfrm>
          <a:prstGeom prst="rect">
            <a:avLst/>
          </a:prstGeom>
        </p:spPr>
      </p:pic>
      <p:pic>
        <p:nvPicPr>
          <p:cNvPr id="22" name="圖片 21" descr="一張含有 美工圖案, 圖形, 符號, 設計 的圖片&#10;&#10;AI 產生的內容可能不正確。">
            <a:extLst>
              <a:ext uri="{FF2B5EF4-FFF2-40B4-BE49-F238E27FC236}">
                <a16:creationId xmlns:a16="http://schemas.microsoft.com/office/drawing/2014/main" id="{570C0C93-1608-052C-9581-E55D956A55A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9969" b="91745" l="9783" r="94973">
                        <a14:foregroundMark x1="18342" y1="50000" x2="26359" y2="38006"/>
                        <a14:foregroundMark x1="26359" y1="38006" x2="36413" y2="32555"/>
                        <a14:foregroundMark x1="36413" y1="32555" x2="47147" y2="34268"/>
                        <a14:foregroundMark x1="47147" y1="34268" x2="55027" y2="39097"/>
                        <a14:foregroundMark x1="55027" y1="39097" x2="58424" y2="44704"/>
                        <a14:foregroundMark x1="51223" y1="31776" x2="62908" y2="24766"/>
                        <a14:foregroundMark x1="62908" y1="24766" x2="71875" y2="26791"/>
                        <a14:foregroundMark x1="71875" y1="26791" x2="77989" y2="31308"/>
                        <a14:foregroundMark x1="77989" y1="31308" x2="80842" y2="42835"/>
                        <a14:foregroundMark x1="80842" y1="42835" x2="80027" y2="49844"/>
                        <a14:foregroundMark x1="80027" y1="49844" x2="75272" y2="55607"/>
                        <a14:foregroundMark x1="75272" y1="55607" x2="66984" y2="56386"/>
                        <a14:foregroundMark x1="66984" y1="56386" x2="60462" y2="51713"/>
                        <a14:foregroundMark x1="60462" y1="51713" x2="60054" y2="49533"/>
                        <a14:foregroundMark x1="16848" y1="50779" x2="8560" y2="60280"/>
                        <a14:foregroundMark x1="8560" y1="60280" x2="5842" y2="71028"/>
                        <a14:foregroundMark x1="5842" y1="71028" x2="10326" y2="85826"/>
                        <a14:foregroundMark x1="10326" y1="85826" x2="21060" y2="90966"/>
                        <a14:foregroundMark x1="21060" y1="90966" x2="38179" y2="91745"/>
                        <a14:foregroundMark x1="73604" y1="87920" x2="75679" y2="87695"/>
                        <a14:foregroundMark x1="38179" y1="91745" x2="52016" y2="90251"/>
                        <a14:foregroundMark x1="75679" y1="87695" x2="81658" y2="79751"/>
                        <a14:foregroundMark x1="81658" y1="79751" x2="82745" y2="70249"/>
                        <a14:foregroundMark x1="82745" y1="70249" x2="80571" y2="63084"/>
                        <a14:foregroundMark x1="80571" y1="63084" x2="77038" y2="58411"/>
                        <a14:foregroundMark x1="53276" y1="90824" x2="61549" y2="90966"/>
                        <a14:foregroundMark x1="61549" y1="90966" x2="69022" y2="90966"/>
                        <a14:foregroundMark x1="69022" y1="90966" x2="73234" y2="89097"/>
                        <a14:foregroundMark x1="53715" y1="90244" x2="54891" y2="90031"/>
                        <a14:foregroundMark x1="49728" y1="90966" x2="51752" y2="90599"/>
                        <a14:foregroundMark x1="45516" y1="20249" x2="50408" y2="23364"/>
                        <a14:foregroundMark x1="65761" y1="11526" x2="66168" y2="14953"/>
                        <a14:foregroundMark x1="81250" y1="23520" x2="84918" y2="21028"/>
                        <a14:foregroundMark x1="88723" y1="41589" x2="94973" y2="42835"/>
                        <a14:backgroundMark x1="36685" y1="52336" x2="36685" y2="52336"/>
                        <a14:backgroundMark x1="30978" y1="50156" x2="34918" y2="55452"/>
                        <a14:backgroundMark x1="34918" y1="55452" x2="41984" y2="60592"/>
                        <a14:backgroundMark x1="41984" y1="60592" x2="32609" y2="53583"/>
                        <a14:backgroundMark x1="32609" y1="53583" x2="31114" y2="54984"/>
                        <a14:backgroundMark x1="70479" y1="87726" x2="62768" y2="88792"/>
                        <a14:backgroundMark x1="97962" y1="38629" x2="97690" y2="41589"/>
                        <a14:backgroundMark x1="53125" y1="88785" x2="54348" y2="8940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364979">
            <a:off x="4879561" y="3337079"/>
            <a:ext cx="1289521" cy="1124827"/>
          </a:xfrm>
          <a:prstGeom prst="rect">
            <a:avLst/>
          </a:prstGeom>
        </p:spPr>
      </p:pic>
      <p:pic>
        <p:nvPicPr>
          <p:cNvPr id="24" name="圖片 23" descr="一張含有 美工圖案, 圖畫, 圖形, 樣板 的圖片&#10;&#10;AI 產生的內容可能不正確。">
            <a:extLst>
              <a:ext uri="{FF2B5EF4-FFF2-40B4-BE49-F238E27FC236}">
                <a16:creationId xmlns:a16="http://schemas.microsoft.com/office/drawing/2014/main" id="{9A8EDD0E-40C4-6D44-B19D-007E310571E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10000" b="90000" l="10000" r="90000">
                        <a14:foregroundMark x1="41481" y1="58981" x2="41481" y2="58981"/>
                        <a14:foregroundMark x1="34259" y1="62130" x2="34259" y2="62130"/>
                        <a14:foregroundMark x1="38241" y1="67407" x2="38241" y2="67407"/>
                        <a14:foregroundMark x1="47593" y1="62778" x2="47593" y2="62778"/>
                        <a14:foregroundMark x1="53241" y1="58519" x2="53241" y2="58519"/>
                        <a14:foregroundMark x1="52222" y1="68056" x2="52222" y2="68056"/>
                        <a14:foregroundMark x1="60093" y1="62037" x2="60093" y2="62037"/>
                      </a14:backgroundRemoval>
                    </a14:imgEffect>
                  </a14:imgLayer>
                </a14:imgProps>
              </a:ext>
            </a:extLst>
          </a:blip>
          <a:srcRect l="22724" t="23027" r="25930" b="26974"/>
          <a:stretch>
            <a:fillRect/>
          </a:stretch>
        </p:blipFill>
        <p:spPr>
          <a:xfrm rot="21337649">
            <a:off x="3943103" y="3642116"/>
            <a:ext cx="1526764" cy="1486725"/>
          </a:xfrm>
          <a:prstGeom prst="rect">
            <a:avLst/>
          </a:prstGeom>
        </p:spPr>
      </p:pic>
      <p:sp>
        <p:nvSpPr>
          <p:cNvPr id="27" name="文字方塊 26">
            <a:extLst>
              <a:ext uri="{FF2B5EF4-FFF2-40B4-BE49-F238E27FC236}">
                <a16:creationId xmlns:a16="http://schemas.microsoft.com/office/drawing/2014/main" id="{A4C29853-03CC-B823-080D-02695300A0B6}"/>
              </a:ext>
            </a:extLst>
          </p:cNvPr>
          <p:cNvSpPr txBox="1"/>
          <p:nvPr/>
        </p:nvSpPr>
        <p:spPr>
          <a:xfrm>
            <a:off x="839681" y="1673122"/>
            <a:ext cx="3523631" cy="10942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200"/>
              </a:lnSpc>
            </a:pPr>
            <a:r>
              <a:rPr lang="en-US" altLang="zh-TW" sz="2400" dirty="0">
                <a:latin typeface="源流明體月 M" panose="02020500000000000000" pitchFamily="18" charset="-120"/>
                <a:ea typeface="源流明體月 M" panose="02020500000000000000" pitchFamily="18" charset="-120"/>
              </a:rPr>
              <a:t>- </a:t>
            </a:r>
            <a:r>
              <a:rPr lang="zh-TW" altLang="en-US" sz="2400" dirty="0">
                <a:latin typeface="源流明體月 M" panose="02020500000000000000" pitchFamily="18" charset="-120"/>
                <a:ea typeface="源流明體月 M" panose="02020500000000000000" pitchFamily="18" charset="-120"/>
              </a:rPr>
              <a:t>跨感官知覺整合</a:t>
            </a:r>
            <a:endParaRPr lang="en-US" altLang="zh-TW" sz="2400" dirty="0">
              <a:latin typeface="源流明體月 M" panose="02020500000000000000" pitchFamily="18" charset="-120"/>
              <a:ea typeface="源流明體月 M" panose="02020500000000000000" pitchFamily="18" charset="-120"/>
            </a:endParaRPr>
          </a:p>
          <a:p>
            <a:pPr>
              <a:lnSpc>
                <a:spcPts val="4200"/>
              </a:lnSpc>
            </a:pPr>
            <a:r>
              <a:rPr lang="en-US" altLang="zh-TW" sz="2400" dirty="0">
                <a:latin typeface="源流明體月 M" panose="02020500000000000000" pitchFamily="18" charset="-120"/>
                <a:ea typeface="源流明體月 M" panose="02020500000000000000" pitchFamily="18" charset="-120"/>
              </a:rPr>
              <a:t>-</a:t>
            </a:r>
            <a:r>
              <a:rPr lang="zh-TW" altLang="en-US" sz="2400" dirty="0">
                <a:latin typeface="源流明體月 M" panose="02020500000000000000" pitchFamily="18" charset="-120"/>
                <a:ea typeface="源流明體月 M" panose="02020500000000000000" pitchFamily="18" charset="-120"/>
              </a:rPr>
              <a:t> 生活儀式感</a:t>
            </a:r>
          </a:p>
        </p:txBody>
      </p:sp>
      <p:pic>
        <p:nvPicPr>
          <p:cNvPr id="13" name="圖片 12" descr="一張含有 文字, 行, 圖表, 繪圖 的圖片&#10;&#10;AI 產生的內容可能不正確。">
            <a:extLst>
              <a:ext uri="{FF2B5EF4-FFF2-40B4-BE49-F238E27FC236}">
                <a16:creationId xmlns:a16="http://schemas.microsoft.com/office/drawing/2014/main" id="{7CEFD90B-DC7B-9FBA-8C80-9C515EAF1DE8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t="21247" r="8865" b="8592"/>
          <a:stretch>
            <a:fillRect/>
          </a:stretch>
        </p:blipFill>
        <p:spPr>
          <a:xfrm>
            <a:off x="5610823" y="4444373"/>
            <a:ext cx="3600139" cy="2771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68224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52AE98-EE95-A668-EAD0-D51570449E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1FE3A7F5-D5C1-4251-30F5-724063320E9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9264073" cy="7047345"/>
          </a:xfrm>
          <a:prstGeom prst="rect">
            <a:avLst/>
          </a:prstGeom>
          <a:solidFill>
            <a:srgbClr val="DED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5" name="直線接點 4">
            <a:extLst>
              <a:ext uri="{FF2B5EF4-FFF2-40B4-BE49-F238E27FC236}">
                <a16:creationId xmlns:a16="http://schemas.microsoft.com/office/drawing/2014/main" id="{2E41A9BA-9409-AD25-652C-993BA4D976C6}"/>
              </a:ext>
            </a:extLst>
          </p:cNvPr>
          <p:cNvCxnSpPr/>
          <p:nvPr/>
        </p:nvCxnSpPr>
        <p:spPr>
          <a:xfrm>
            <a:off x="4128654" y="1117601"/>
            <a:ext cx="452581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文字方塊 2">
            <a:extLst>
              <a:ext uri="{FF2B5EF4-FFF2-40B4-BE49-F238E27FC236}">
                <a16:creationId xmlns:a16="http://schemas.microsoft.com/office/drawing/2014/main" id="{39AB0451-A575-10E3-E3AC-FB44279D5E65}"/>
              </a:ext>
            </a:extLst>
          </p:cNvPr>
          <p:cNvSpPr txBox="1"/>
          <p:nvPr/>
        </p:nvSpPr>
        <p:spPr>
          <a:xfrm>
            <a:off x="184727" y="685928"/>
            <a:ext cx="394392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spc="230" dirty="0">
                <a:latin typeface="思源宋體 Heavy" panose="02020900000000000000" pitchFamily="18" charset="-120"/>
                <a:ea typeface="思源宋體 Heavy" panose="02020900000000000000" pitchFamily="18" charset="-120"/>
              </a:rPr>
              <a:t>問題與痛點 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174247C-B35F-4769-D7EC-7C5A825CB501}"/>
              </a:ext>
            </a:extLst>
          </p:cNvPr>
          <p:cNvSpPr/>
          <p:nvPr/>
        </p:nvSpPr>
        <p:spPr>
          <a:xfrm>
            <a:off x="660401" y="2053407"/>
            <a:ext cx="193964" cy="175779"/>
          </a:xfrm>
          <a:prstGeom prst="rect">
            <a:avLst/>
          </a:prstGeom>
          <a:solidFill>
            <a:srgbClr val="5F8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直角三角形 10">
            <a:extLst>
              <a:ext uri="{FF2B5EF4-FFF2-40B4-BE49-F238E27FC236}">
                <a16:creationId xmlns:a16="http://schemas.microsoft.com/office/drawing/2014/main" id="{62BB7562-A50C-A829-A1FA-FE9C2FF0A05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H="1">
            <a:off x="-2" y="-1"/>
            <a:ext cx="9264073" cy="7047345"/>
          </a:xfrm>
          <a:prstGeom prst="rtTriangle">
            <a:avLst/>
          </a:prstGeom>
          <a:solidFill>
            <a:srgbClr val="8FAF9D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463CB509-10FA-CDC3-7809-4AF207D8D5B8}"/>
              </a:ext>
            </a:extLst>
          </p:cNvPr>
          <p:cNvSpPr txBox="1"/>
          <p:nvPr/>
        </p:nvSpPr>
        <p:spPr>
          <a:xfrm>
            <a:off x="4765964" y="4225846"/>
            <a:ext cx="31680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dirty="0">
                <a:latin typeface="源流明體月 M" panose="02020500000000000000" pitchFamily="18" charset="-120"/>
                <a:ea typeface="源流明體月 M" panose="02020500000000000000" pitchFamily="18" charset="-120"/>
              </a:rPr>
              <a:t>尚未被解決 </a:t>
            </a:r>
            <a:r>
              <a:rPr lang="en-US" altLang="zh-TW" sz="2400" dirty="0">
                <a:latin typeface="源流明體月 M" panose="02020500000000000000" pitchFamily="18" charset="-120"/>
                <a:ea typeface="源流明體月 M" panose="02020500000000000000" pitchFamily="18" charset="-120"/>
              </a:rPr>
              <a:t>:</a:t>
            </a:r>
            <a:endParaRPr lang="zh-TW" altLang="en-US" sz="2400" dirty="0">
              <a:latin typeface="源流明體月 M" panose="02020500000000000000" pitchFamily="18" charset="-120"/>
              <a:ea typeface="源流明體月 M" panose="02020500000000000000" pitchFamily="18" charset="-120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7F7DEFB7-D2A9-16EB-AC69-56F5AB80EE8C}"/>
              </a:ext>
            </a:extLst>
          </p:cNvPr>
          <p:cNvSpPr txBox="1"/>
          <p:nvPr/>
        </p:nvSpPr>
        <p:spPr>
          <a:xfrm>
            <a:off x="4572000" y="4723714"/>
            <a:ext cx="4969153" cy="14113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altLang="zh-TW" sz="2000" spc="110" dirty="0">
                <a:latin typeface="源流明體月 M" panose="02020500000000000000" pitchFamily="18" charset="-120"/>
                <a:ea typeface="源流明體月 M" panose="02020500000000000000" pitchFamily="18" charset="-120"/>
              </a:rPr>
              <a:t>- </a:t>
            </a:r>
            <a:r>
              <a:rPr lang="zh-TW" altLang="en-US" sz="2000" spc="110" dirty="0">
                <a:latin typeface="源流明體月 M" panose="02020500000000000000" pitchFamily="18" charset="-120"/>
                <a:ea typeface="源流明體月 M" panose="02020500000000000000" pitchFamily="18" charset="-120"/>
              </a:rPr>
              <a:t>現實情境切換頻繁，手動難即時配合</a:t>
            </a:r>
            <a:endParaRPr lang="en-US" altLang="zh-TW" sz="2000" spc="110" dirty="0">
              <a:latin typeface="源流明體月 M" panose="02020500000000000000" pitchFamily="18" charset="-120"/>
              <a:ea typeface="源流明體月 M" panose="02020500000000000000" pitchFamily="18" charset="-120"/>
            </a:endParaRPr>
          </a:p>
          <a:p>
            <a:pPr>
              <a:lnSpc>
                <a:spcPts val="3600"/>
              </a:lnSpc>
            </a:pPr>
            <a:r>
              <a:rPr lang="en-US" altLang="zh-TW" sz="2000" spc="110" dirty="0">
                <a:latin typeface="源流明體月 M" panose="02020500000000000000" pitchFamily="18" charset="-120"/>
                <a:ea typeface="源流明體月 M" panose="02020500000000000000" pitchFamily="18" charset="-120"/>
              </a:rPr>
              <a:t>-</a:t>
            </a:r>
            <a:r>
              <a:rPr lang="zh-TW" altLang="en-US" sz="2000" spc="110" dirty="0">
                <a:latin typeface="源流明體月 M" panose="02020500000000000000" pitchFamily="18" charset="-120"/>
                <a:ea typeface="源流明體月 M" panose="02020500000000000000" pitchFamily="18" charset="-120"/>
              </a:rPr>
              <a:t> 缺少學習使用者偏好跟變化系統</a:t>
            </a:r>
            <a:br>
              <a:rPr lang="en-US" altLang="zh-TW" sz="2000" spc="110" dirty="0">
                <a:latin typeface="源流明體月 M" panose="02020500000000000000" pitchFamily="18" charset="-120"/>
                <a:ea typeface="源流明體月 M" panose="02020500000000000000" pitchFamily="18" charset="-120"/>
              </a:rPr>
            </a:br>
            <a:endParaRPr lang="zh-TW" altLang="en-US" sz="2000" spc="110" dirty="0">
              <a:latin typeface="源流明體月 M" panose="02020500000000000000" pitchFamily="18" charset="-120"/>
              <a:ea typeface="源流明體月 M" panose="02020500000000000000" pitchFamily="18" charset="-120"/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7506C93A-0E5D-4DED-9321-2C8BBE97D284}"/>
              </a:ext>
            </a:extLst>
          </p:cNvPr>
          <p:cNvSpPr txBox="1"/>
          <p:nvPr/>
        </p:nvSpPr>
        <p:spPr>
          <a:xfrm>
            <a:off x="554181" y="2381629"/>
            <a:ext cx="4378037" cy="23346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altLang="zh-TW" sz="2000" spc="110" dirty="0">
                <a:latin typeface="源流明體月 M" panose="02020500000000000000" pitchFamily="18" charset="-120"/>
                <a:ea typeface="源流明體月 M" panose="02020500000000000000" pitchFamily="18" charset="-120"/>
              </a:rPr>
              <a:t>- </a:t>
            </a:r>
            <a:r>
              <a:rPr lang="zh-TW" altLang="en-US" sz="2000" spc="110" dirty="0">
                <a:latin typeface="源流明體月 M" panose="02020500000000000000" pitchFamily="18" charset="-120"/>
                <a:ea typeface="源流明體月 M" panose="02020500000000000000" pitchFamily="18" charset="-120"/>
              </a:rPr>
              <a:t>支援</a:t>
            </a:r>
            <a:r>
              <a:rPr lang="en-US" altLang="zh-TW" sz="2000" spc="110" dirty="0">
                <a:latin typeface="源流明體月 M" panose="02020500000000000000" pitchFamily="18" charset="-120"/>
                <a:ea typeface="源流明體月 M" panose="02020500000000000000" pitchFamily="18" charset="-120"/>
              </a:rPr>
              <a:t>APP</a:t>
            </a:r>
            <a:r>
              <a:rPr lang="zh-TW" altLang="en-US" sz="2000" spc="110" dirty="0">
                <a:latin typeface="源流明體月 M" panose="02020500000000000000" pitchFamily="18" charset="-120"/>
                <a:ea typeface="源流明體月 M" panose="02020500000000000000" pitchFamily="18" charset="-120"/>
              </a:rPr>
              <a:t>個人化手動比例調香</a:t>
            </a:r>
            <a:br>
              <a:rPr lang="en-US" altLang="zh-TW" sz="2000" spc="110" dirty="0">
                <a:latin typeface="源流明體月 M" panose="02020500000000000000" pitchFamily="18" charset="-120"/>
                <a:ea typeface="源流明體月 M" panose="02020500000000000000" pitchFamily="18" charset="-120"/>
              </a:rPr>
            </a:br>
            <a:r>
              <a:rPr lang="en-US" altLang="zh-TW" sz="2000" spc="110" dirty="0">
                <a:latin typeface="源流明體月 M" panose="02020500000000000000" pitchFamily="18" charset="-120"/>
                <a:ea typeface="源流明體月 M" panose="02020500000000000000" pitchFamily="18" charset="-120"/>
              </a:rPr>
              <a:t>- </a:t>
            </a:r>
            <a:r>
              <a:rPr lang="zh-TW" altLang="en-US" sz="2000" spc="110" dirty="0">
                <a:latin typeface="源流明體月 M" panose="02020500000000000000" pitchFamily="18" charset="-120"/>
                <a:ea typeface="源流明體月 M" panose="02020500000000000000" pitchFamily="18" charset="-120"/>
              </a:rPr>
              <a:t>可以定時、排程、遠端操控</a:t>
            </a:r>
            <a:endParaRPr lang="en-US" altLang="zh-TW" sz="2000" spc="110" dirty="0">
              <a:latin typeface="源流明體月 M" panose="02020500000000000000" pitchFamily="18" charset="-120"/>
              <a:ea typeface="源流明體月 M" panose="02020500000000000000" pitchFamily="18" charset="-120"/>
            </a:endParaRPr>
          </a:p>
          <a:p>
            <a:pPr>
              <a:lnSpc>
                <a:spcPts val="3600"/>
              </a:lnSpc>
            </a:pPr>
            <a:r>
              <a:rPr lang="en-US" altLang="zh-TW" sz="2000" spc="110" dirty="0">
                <a:latin typeface="源流明體月 M" panose="02020500000000000000" pitchFamily="18" charset="-120"/>
                <a:ea typeface="源流明體月 M" panose="02020500000000000000" pitchFamily="18" charset="-120"/>
              </a:rPr>
              <a:t>- </a:t>
            </a:r>
            <a:r>
              <a:rPr lang="zh-TW" altLang="en-US" sz="2000" spc="110" dirty="0">
                <a:latin typeface="源流明體月 M" panose="02020500000000000000" pitchFamily="18" charset="-120"/>
                <a:ea typeface="源流明體月 M" panose="02020500000000000000" pitchFamily="18" charset="-120"/>
              </a:rPr>
              <a:t>情境分類選擇</a:t>
            </a:r>
            <a:endParaRPr lang="en-US" altLang="zh-TW" sz="2000" spc="110" dirty="0">
              <a:latin typeface="源流明體月 M" panose="02020500000000000000" pitchFamily="18" charset="-120"/>
              <a:ea typeface="源流明體月 M" panose="02020500000000000000" pitchFamily="18" charset="-120"/>
            </a:endParaRPr>
          </a:p>
          <a:p>
            <a:pPr marL="342900" indent="-342900">
              <a:lnSpc>
                <a:spcPts val="3600"/>
              </a:lnSpc>
              <a:buFontTx/>
              <a:buChar char="-"/>
            </a:pPr>
            <a:endParaRPr lang="en-US" altLang="zh-TW" sz="2000" spc="110" dirty="0">
              <a:latin typeface="源流明體月 M" panose="02020500000000000000" pitchFamily="18" charset="-120"/>
              <a:ea typeface="源流明體月 M" panose="02020500000000000000" pitchFamily="18" charset="-120"/>
            </a:endParaRPr>
          </a:p>
          <a:p>
            <a:pPr>
              <a:lnSpc>
                <a:spcPts val="3600"/>
              </a:lnSpc>
            </a:pPr>
            <a:endParaRPr lang="zh-TW" altLang="en-US" sz="2000" spc="110" dirty="0">
              <a:latin typeface="源流明體月 M" panose="02020500000000000000" pitchFamily="18" charset="-120"/>
              <a:ea typeface="源流明體月 M" panose="02020500000000000000" pitchFamily="18" charset="-120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6AAF88ED-C12E-F8D5-08C3-42058968D7DA}"/>
              </a:ext>
            </a:extLst>
          </p:cNvPr>
          <p:cNvSpPr txBox="1"/>
          <p:nvPr/>
        </p:nvSpPr>
        <p:spPr>
          <a:xfrm>
            <a:off x="110837" y="4140641"/>
            <a:ext cx="37222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dirty="0">
                <a:highlight>
                  <a:srgbClr val="F6F385"/>
                </a:highlight>
                <a:latin typeface="源流明體月 M" panose="02020500000000000000" pitchFamily="18" charset="-120"/>
                <a:ea typeface="源流明體月 M" panose="02020500000000000000" pitchFamily="18" charset="-120"/>
              </a:rPr>
              <a:t>使用者知道自己想要什麼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A6221CA-1500-DB0E-DB01-256BEBEDD82B}"/>
              </a:ext>
            </a:extLst>
          </p:cNvPr>
          <p:cNvSpPr/>
          <p:nvPr/>
        </p:nvSpPr>
        <p:spPr>
          <a:xfrm>
            <a:off x="4572000" y="4398594"/>
            <a:ext cx="193964" cy="175779"/>
          </a:xfrm>
          <a:prstGeom prst="rect">
            <a:avLst/>
          </a:prstGeom>
          <a:solidFill>
            <a:srgbClr val="DED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7C0C6451-88F1-F5A3-5EE7-BF36D9DAF201}"/>
              </a:ext>
            </a:extLst>
          </p:cNvPr>
          <p:cNvSpPr txBox="1"/>
          <p:nvPr/>
        </p:nvSpPr>
        <p:spPr>
          <a:xfrm>
            <a:off x="1009070" y="1909233"/>
            <a:ext cx="31680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dirty="0">
                <a:latin typeface="源流明體月 M" panose="02020500000000000000" pitchFamily="18" charset="-120"/>
                <a:ea typeface="源流明體月 M" panose="02020500000000000000" pitchFamily="18" charset="-120"/>
              </a:rPr>
              <a:t>現在已做到 </a:t>
            </a:r>
            <a:r>
              <a:rPr lang="en-US" altLang="zh-TW" sz="2400" dirty="0">
                <a:latin typeface="源流明體月 M" panose="02020500000000000000" pitchFamily="18" charset="-120"/>
                <a:ea typeface="源流明體月 M" panose="02020500000000000000" pitchFamily="18" charset="-120"/>
              </a:rPr>
              <a:t>:</a:t>
            </a:r>
            <a:endParaRPr lang="zh-TW" altLang="en-US" sz="2400" dirty="0">
              <a:latin typeface="源流明體月 M" panose="02020500000000000000" pitchFamily="18" charset="-120"/>
              <a:ea typeface="源流明體月 M" panose="02020500000000000000" pitchFamily="18" charset="-120"/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5D849D94-9958-C97C-B998-1E89576CD4A0}"/>
              </a:ext>
            </a:extLst>
          </p:cNvPr>
          <p:cNvSpPr/>
          <p:nvPr/>
        </p:nvSpPr>
        <p:spPr>
          <a:xfrm>
            <a:off x="2770908" y="1756390"/>
            <a:ext cx="3731491" cy="3585156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6600" spc="340" dirty="0">
              <a:latin typeface="源流明體月 H" panose="02020900000000000000" pitchFamily="18" charset="-120"/>
              <a:ea typeface="源流明體月 H" panose="02020900000000000000" pitchFamily="18" charset="-120"/>
            </a:endParaRP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0F3B03FC-40D5-A4FA-2ABC-DEE862B5A163}"/>
              </a:ext>
            </a:extLst>
          </p:cNvPr>
          <p:cNvSpPr txBox="1"/>
          <p:nvPr/>
        </p:nvSpPr>
        <p:spPr>
          <a:xfrm>
            <a:off x="5366325" y="6009717"/>
            <a:ext cx="38977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dirty="0">
                <a:highlight>
                  <a:srgbClr val="F6F385"/>
                </a:highlight>
                <a:latin typeface="源流明體月 M" panose="02020500000000000000" pitchFamily="18" charset="-120"/>
                <a:ea typeface="源流明體月 M" panose="02020500000000000000" pitchFamily="18" charset="-120"/>
              </a:rPr>
              <a:t>當需求尚未到達意識層</a:t>
            </a:r>
          </a:p>
        </p:txBody>
      </p:sp>
      <p:pic>
        <p:nvPicPr>
          <p:cNvPr id="21" name="圖片 20" descr="一張含有 寫生, 黑與白, 單色, 藝術 的圖片&#10;&#10;AI 產生的內容可能不正確。">
            <a:extLst>
              <a:ext uri="{FF2B5EF4-FFF2-40B4-BE49-F238E27FC236}">
                <a16:creationId xmlns:a16="http://schemas.microsoft.com/office/drawing/2014/main" id="{D0D4D1B3-592F-D0F1-D7E3-B57CD5F8651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910" t="31223" r="7920" b="29832"/>
          <a:stretch>
            <a:fillRect/>
          </a:stretch>
        </p:blipFill>
        <p:spPr>
          <a:xfrm>
            <a:off x="3414621" y="2274994"/>
            <a:ext cx="2495912" cy="2497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421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1" animBg="1"/>
      <p:bldP spid="15" grpId="2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4E19BD67-4FDA-4C57-AFE5-262988F4BD0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9264073" cy="7047345"/>
          </a:xfrm>
          <a:prstGeom prst="rect">
            <a:avLst/>
          </a:prstGeom>
          <a:solidFill>
            <a:srgbClr val="DED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F6C1DE6-73DC-DBAA-D78A-F23251B634CB}"/>
              </a:ext>
            </a:extLst>
          </p:cNvPr>
          <p:cNvSpPr/>
          <p:nvPr/>
        </p:nvSpPr>
        <p:spPr>
          <a:xfrm rot="5400000">
            <a:off x="-2609275" y="2895601"/>
            <a:ext cx="6592325" cy="801123"/>
          </a:xfrm>
          <a:prstGeom prst="rect">
            <a:avLst/>
          </a:prstGeom>
          <a:solidFill>
            <a:srgbClr val="8FAF9D">
              <a:alpha val="7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4D572109-F106-6D15-6974-E483EC75DE00}"/>
              </a:ext>
            </a:extLst>
          </p:cNvPr>
          <p:cNvSpPr txBox="1"/>
          <p:nvPr/>
        </p:nvSpPr>
        <p:spPr>
          <a:xfrm>
            <a:off x="184727" y="685928"/>
            <a:ext cx="394392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spc="230" dirty="0">
                <a:latin typeface="思源宋體 Heavy" panose="02020900000000000000" pitchFamily="18" charset="-120"/>
                <a:ea typeface="思源宋體 Heavy" panose="02020900000000000000" pitchFamily="18" charset="-120"/>
              </a:rPr>
              <a:t>解決方案 </a:t>
            </a:r>
          </a:p>
        </p:txBody>
      </p:sp>
      <p:cxnSp>
        <p:nvCxnSpPr>
          <p:cNvPr id="4" name="直線接點 3">
            <a:extLst>
              <a:ext uri="{FF2B5EF4-FFF2-40B4-BE49-F238E27FC236}">
                <a16:creationId xmlns:a16="http://schemas.microsoft.com/office/drawing/2014/main" id="{35E940D1-8F91-FD18-419F-AD24C7B97BA2}"/>
              </a:ext>
            </a:extLst>
          </p:cNvPr>
          <p:cNvCxnSpPr>
            <a:cxnSpLocks/>
          </p:cNvCxnSpPr>
          <p:nvPr/>
        </p:nvCxnSpPr>
        <p:spPr>
          <a:xfrm>
            <a:off x="834670" y="685928"/>
            <a:ext cx="0" cy="465512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直線接點 6">
            <a:extLst>
              <a:ext uri="{FF2B5EF4-FFF2-40B4-BE49-F238E27FC236}">
                <a16:creationId xmlns:a16="http://schemas.microsoft.com/office/drawing/2014/main" id="{691F1B65-290B-6870-4569-2BCCD39CE904}"/>
              </a:ext>
            </a:extLst>
          </p:cNvPr>
          <p:cNvCxnSpPr>
            <a:cxnSpLocks/>
          </p:cNvCxnSpPr>
          <p:nvPr/>
        </p:nvCxnSpPr>
        <p:spPr>
          <a:xfrm flipH="1">
            <a:off x="377471" y="1455369"/>
            <a:ext cx="341867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2A5CE305-A5A0-80F4-ED9E-1BC1CBD6923B}"/>
              </a:ext>
            </a:extLst>
          </p:cNvPr>
          <p:cNvSpPr/>
          <p:nvPr/>
        </p:nvSpPr>
        <p:spPr>
          <a:xfrm>
            <a:off x="2086808" y="2060704"/>
            <a:ext cx="193964" cy="175779"/>
          </a:xfrm>
          <a:prstGeom prst="rect">
            <a:avLst/>
          </a:prstGeom>
          <a:solidFill>
            <a:srgbClr val="5F8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393D344-FD1B-7C89-0666-18DAC77D2DD9}"/>
              </a:ext>
            </a:extLst>
          </p:cNvPr>
          <p:cNvSpPr/>
          <p:nvPr/>
        </p:nvSpPr>
        <p:spPr>
          <a:xfrm>
            <a:off x="2086808" y="4369522"/>
            <a:ext cx="193964" cy="175779"/>
          </a:xfrm>
          <a:prstGeom prst="rect">
            <a:avLst/>
          </a:prstGeom>
          <a:solidFill>
            <a:srgbClr val="5F8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F393A991-81F1-3495-9E4D-293B80DF7A4E}"/>
              </a:ext>
            </a:extLst>
          </p:cNvPr>
          <p:cNvSpPr txBox="1"/>
          <p:nvPr/>
        </p:nvSpPr>
        <p:spPr>
          <a:xfrm>
            <a:off x="2540000" y="1856205"/>
            <a:ext cx="48675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200" dirty="0">
                <a:solidFill>
                  <a:srgbClr val="5F8670"/>
                </a:solidFill>
                <a:latin typeface="源流明體丹 B" panose="02020700000000000000" pitchFamily="18" charset="-120"/>
                <a:ea typeface="源流明體丹 B" panose="02020700000000000000" pitchFamily="18" charset="-120"/>
              </a:rPr>
              <a:t>智慧感知，香氛自動調節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32BFCEF7-5B53-C0AE-718F-741679D44491}"/>
              </a:ext>
            </a:extLst>
          </p:cNvPr>
          <p:cNvSpPr txBox="1"/>
          <p:nvPr/>
        </p:nvSpPr>
        <p:spPr>
          <a:xfrm>
            <a:off x="2540000" y="4165023"/>
            <a:ext cx="58466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200" dirty="0">
                <a:solidFill>
                  <a:srgbClr val="5F8670"/>
                </a:solidFill>
                <a:latin typeface="源流明體丹 B" panose="02020700000000000000" pitchFamily="18" charset="-120"/>
                <a:ea typeface="源流明體丹 B" panose="02020700000000000000" pitchFamily="18" charset="-120"/>
              </a:rPr>
              <a:t>個人化學習，持續優化體驗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0B3E4F9-0958-245D-B1FA-5B5AF3CCF004}"/>
              </a:ext>
            </a:extLst>
          </p:cNvPr>
          <p:cNvSpPr/>
          <p:nvPr/>
        </p:nvSpPr>
        <p:spPr>
          <a:xfrm>
            <a:off x="1087450" y="2629732"/>
            <a:ext cx="8176624" cy="1394114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1F08D61-F6E9-0457-EECD-9E578205AAB8}"/>
              </a:ext>
            </a:extLst>
          </p:cNvPr>
          <p:cNvSpPr/>
          <p:nvPr/>
        </p:nvSpPr>
        <p:spPr>
          <a:xfrm>
            <a:off x="1087450" y="5070746"/>
            <a:ext cx="8176624" cy="1394114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9B9739A5-7C0F-AA1F-3CAF-0C7D98C975B5}"/>
              </a:ext>
            </a:extLst>
          </p:cNvPr>
          <p:cNvSpPr txBox="1"/>
          <p:nvPr/>
        </p:nvSpPr>
        <p:spPr>
          <a:xfrm>
            <a:off x="2558151" y="2874652"/>
            <a:ext cx="6762307" cy="8374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100"/>
              </a:lnSpc>
            </a:pPr>
            <a:r>
              <a:rPr lang="zh-TW" altLang="en-US" sz="2000" spc="70" dirty="0">
                <a:latin typeface="源流明體丹 EL" panose="02020200000000000000" pitchFamily="18" charset="-120"/>
                <a:ea typeface="源流明體丹 EL" panose="02020200000000000000" pitchFamily="18" charset="-120"/>
              </a:rPr>
              <a:t>系統能即時感知使用者收聽的音樂情緒及當地天氣狀況，自動演算並調整香氛配方。</a:t>
            </a: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B601EBDF-810F-3678-80AD-1F26E7E33112}"/>
              </a:ext>
            </a:extLst>
          </p:cNvPr>
          <p:cNvSpPr txBox="1"/>
          <p:nvPr/>
        </p:nvSpPr>
        <p:spPr>
          <a:xfrm>
            <a:off x="2572866" y="5309906"/>
            <a:ext cx="6691207" cy="8374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100"/>
              </a:lnSpc>
            </a:pPr>
            <a:r>
              <a:rPr lang="zh-TW" altLang="en-US" sz="2000" spc="70" dirty="0">
                <a:latin typeface="源流明體丹 EL" panose="02020200000000000000" pitchFamily="18" charset="-120"/>
                <a:ea typeface="源流明體丹 EL" panose="02020200000000000000" pitchFamily="18" charset="-120"/>
              </a:rPr>
              <a:t>從使用者給予的回饋，優化模型，打造專屬個人的香氛體驗，提升使用滿意度與黏著度。</a:t>
            </a:r>
          </a:p>
        </p:txBody>
      </p:sp>
    </p:spTree>
    <p:extLst>
      <p:ext uri="{BB962C8B-B14F-4D97-AF65-F5344CB8AC3E}">
        <p14:creationId xmlns:p14="http://schemas.microsoft.com/office/powerpoint/2010/main" val="38090285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A149B0-34C0-60C4-CACD-98EF5C7D9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1024BE7-9FC7-BEF7-1D0F-7D677434E45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9264073" cy="7047345"/>
          </a:xfrm>
          <a:prstGeom prst="rect">
            <a:avLst/>
          </a:prstGeom>
          <a:solidFill>
            <a:srgbClr val="DED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1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6E19336-3B7C-F3D3-2CC1-2F66FEE77E97}"/>
              </a:ext>
            </a:extLst>
          </p:cNvPr>
          <p:cNvSpPr/>
          <p:nvPr/>
        </p:nvSpPr>
        <p:spPr>
          <a:xfrm rot="5400000">
            <a:off x="5372264" y="2819529"/>
            <a:ext cx="685930" cy="7117079"/>
          </a:xfrm>
          <a:prstGeom prst="rect">
            <a:avLst/>
          </a:prstGeom>
          <a:solidFill>
            <a:srgbClr val="F3F3F3">
              <a:alpha val="9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0D3DDFF-F0D0-4CCD-445F-FD512F187939}"/>
              </a:ext>
            </a:extLst>
          </p:cNvPr>
          <p:cNvSpPr/>
          <p:nvPr/>
        </p:nvSpPr>
        <p:spPr>
          <a:xfrm>
            <a:off x="7943609" y="136967"/>
            <a:ext cx="1113763" cy="6910378"/>
          </a:xfrm>
          <a:prstGeom prst="rect">
            <a:avLst/>
          </a:prstGeom>
          <a:solidFill>
            <a:srgbClr val="8FAF9D">
              <a:alpha val="8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70C7233C-26F4-EE11-C7DB-AD3281863272}"/>
              </a:ext>
            </a:extLst>
          </p:cNvPr>
          <p:cNvSpPr txBox="1"/>
          <p:nvPr/>
        </p:nvSpPr>
        <p:spPr>
          <a:xfrm>
            <a:off x="4632036" y="685928"/>
            <a:ext cx="394392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spc="230" dirty="0">
                <a:latin typeface="思源宋體 Heavy" panose="02020900000000000000" pitchFamily="18" charset="-120"/>
                <a:ea typeface="思源宋體 Heavy" panose="02020900000000000000" pitchFamily="18" charset="-120"/>
              </a:rPr>
              <a:t>核心邏輯 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904FCC85-8FCC-3913-D87D-32F9F4E24A96}"/>
              </a:ext>
            </a:extLst>
          </p:cNvPr>
          <p:cNvSpPr txBox="1"/>
          <p:nvPr/>
        </p:nvSpPr>
        <p:spPr>
          <a:xfrm rot="16200000">
            <a:off x="6097773" y="1982805"/>
            <a:ext cx="470733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6000" dirty="0">
                <a:solidFill>
                  <a:srgbClr val="466252"/>
                </a:solidFill>
                <a:latin typeface="Verdana Pro Black" panose="020F0502020204030204" pitchFamily="34" charset="0"/>
              </a:rPr>
              <a:t>INSIGHT</a:t>
            </a:r>
            <a:endParaRPr lang="zh-TW" altLang="en-US" sz="6000" dirty="0">
              <a:solidFill>
                <a:srgbClr val="466252"/>
              </a:solidFill>
              <a:latin typeface="Verdana Pro Black" panose="020F0502020204030204" pitchFamily="34" charset="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9D186F89-18AF-1556-6C0D-CA74C419E3E6}"/>
              </a:ext>
            </a:extLst>
          </p:cNvPr>
          <p:cNvSpPr txBox="1"/>
          <p:nvPr/>
        </p:nvSpPr>
        <p:spPr>
          <a:xfrm>
            <a:off x="86628" y="1592336"/>
            <a:ext cx="94760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>
                <a:latin typeface="源流明體月 M" panose="02020500000000000000" pitchFamily="18" charset="-120"/>
                <a:ea typeface="源流明體月 M" panose="02020500000000000000" pitchFamily="18" charset="-120"/>
              </a:rPr>
              <a:t>將</a:t>
            </a:r>
            <a:r>
              <a:rPr lang="zh-TW" altLang="en-US" b="1" dirty="0">
                <a:latin typeface="源流明體月 M" panose="02020500000000000000" pitchFamily="18" charset="-120"/>
                <a:ea typeface="源流明體月 M" panose="02020500000000000000" pitchFamily="18" charset="-120"/>
              </a:rPr>
              <a:t>非結構化</a:t>
            </a:r>
            <a:r>
              <a:rPr lang="zh-TW" altLang="en-US" dirty="0">
                <a:latin typeface="源流明體月 M" panose="02020500000000000000" pitchFamily="18" charset="-120"/>
                <a:ea typeface="源流明體月 M" panose="02020500000000000000" pitchFamily="18" charset="-120"/>
              </a:rPr>
              <a:t>的感官數據（音樂、天氣）轉換為</a:t>
            </a:r>
            <a:r>
              <a:rPr lang="zh-TW" altLang="en-US" b="1" dirty="0">
                <a:latin typeface="源流明體月 M" panose="02020500000000000000" pitchFamily="18" charset="-120"/>
                <a:ea typeface="源流明體月 M" panose="02020500000000000000" pitchFamily="18" charset="-120"/>
              </a:rPr>
              <a:t>結構化</a:t>
            </a:r>
            <a:r>
              <a:rPr lang="zh-TW" altLang="en-US" dirty="0">
                <a:latin typeface="源流明體月 M" panose="02020500000000000000" pitchFamily="18" charset="-120"/>
                <a:ea typeface="源流明體月 M" panose="02020500000000000000" pitchFamily="18" charset="-120"/>
              </a:rPr>
              <a:t>的控制指令（氣味比例）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BD9ADE4-03BE-E2EB-9A8A-AFE5B4B6AA6B}"/>
              </a:ext>
            </a:extLst>
          </p:cNvPr>
          <p:cNvSpPr/>
          <p:nvPr/>
        </p:nvSpPr>
        <p:spPr>
          <a:xfrm>
            <a:off x="184726" y="2258209"/>
            <a:ext cx="4387274" cy="4084839"/>
          </a:xfrm>
          <a:prstGeom prst="rect">
            <a:avLst/>
          </a:prstGeom>
          <a:solidFill>
            <a:srgbClr val="46625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A45B493B-CE07-A4E4-F0FD-2C4090E368F6}"/>
              </a:ext>
            </a:extLst>
          </p:cNvPr>
          <p:cNvSpPr txBox="1"/>
          <p:nvPr/>
        </p:nvSpPr>
        <p:spPr>
          <a:xfrm>
            <a:off x="293813" y="2428291"/>
            <a:ext cx="2069431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dirty="0">
                <a:solidFill>
                  <a:srgbClr val="F3F3F3"/>
                </a:solidFill>
                <a:latin typeface="源流明體月 M" panose="02020500000000000000" pitchFamily="18" charset="-120"/>
                <a:ea typeface="源流明體月 M" panose="02020500000000000000" pitchFamily="18" charset="-120"/>
              </a:rPr>
              <a:t>音樂情緒分析</a:t>
            </a:r>
          </a:p>
          <a:p>
            <a:endParaRPr lang="zh-TW" altLang="en-US" dirty="0"/>
          </a:p>
        </p:txBody>
      </p:sp>
      <p:sp>
        <p:nvSpPr>
          <p:cNvPr id="18" name="Rectangle 3">
            <a:extLst>
              <a:ext uri="{FF2B5EF4-FFF2-40B4-BE49-F238E27FC236}">
                <a16:creationId xmlns:a16="http://schemas.microsoft.com/office/drawing/2014/main" id="{6F228CD5-1B1D-970B-B14B-6C2F0195BD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3813" y="2881657"/>
            <a:ext cx="4711324" cy="1959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TW" altLang="zh-TW" sz="1600" b="0" i="0" u="none" strike="noStrike" cap="none" normalizeH="0" baseline="0" dirty="0">
                <a:ln>
                  <a:noFill/>
                </a:ln>
                <a:solidFill>
                  <a:srgbClr val="F3F3F3"/>
                </a:solidFill>
                <a:effectLst/>
                <a:latin typeface="源流明體月 M" panose="02020500000000000000" pitchFamily="18" charset="-120"/>
                <a:ea typeface="源流明體月 M" panose="02020500000000000000" pitchFamily="18" charset="-120"/>
              </a:rPr>
              <a:t>Valence (正向度)：分析音樂是憂鬱還是歡樂</a:t>
            </a:r>
          </a:p>
          <a:p>
            <a:pPr marL="0" marR="0" lvl="0" indent="0" algn="l" defTabSz="914400" rtl="0" eaLnBrk="0" fontAlgn="base" latinLnBrk="0" hangingPunct="0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TW" altLang="zh-TW" sz="1600" b="0" i="0" u="none" strike="noStrike" cap="none" normalizeH="0" baseline="0" dirty="0">
                <a:ln>
                  <a:noFill/>
                </a:ln>
                <a:solidFill>
                  <a:srgbClr val="F3F3F3"/>
                </a:solidFill>
                <a:effectLst/>
                <a:latin typeface="源流明體月 M" panose="02020500000000000000" pitchFamily="18" charset="-120"/>
                <a:ea typeface="源流明體月 M" panose="02020500000000000000" pitchFamily="18" charset="-120"/>
              </a:rPr>
              <a:t>Energy (能量值)：分析音樂是平靜還是激昂</a:t>
            </a:r>
          </a:p>
          <a:p>
            <a:pPr marL="0" marR="0" lvl="0" indent="0" algn="l" defTabSz="914400" rtl="0" eaLnBrk="0" fontAlgn="base" latinLnBrk="0" hangingPunct="0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TW" altLang="zh-TW" sz="1600" b="0" i="0" u="none" strike="noStrike" cap="none" normalizeH="0" baseline="0" dirty="0">
                <a:ln>
                  <a:noFill/>
                </a:ln>
                <a:solidFill>
                  <a:srgbClr val="F3F3F3"/>
                </a:solidFill>
                <a:effectLst/>
                <a:latin typeface="源流明體月 M" panose="02020500000000000000" pitchFamily="18" charset="-120"/>
                <a:ea typeface="源流明體月 M" panose="02020500000000000000" pitchFamily="18" charset="-120"/>
              </a:rPr>
              <a:t>Tempo (節奏)：影響氣味釋放的頻率</a:t>
            </a:r>
            <a:endParaRPr kumimoji="0" lang="en-US" altLang="zh-TW" sz="1600" b="0" i="0" u="none" strike="noStrike" cap="none" normalizeH="0" baseline="0" dirty="0">
              <a:ln>
                <a:noFill/>
              </a:ln>
              <a:solidFill>
                <a:srgbClr val="F3F3F3"/>
              </a:solidFill>
              <a:effectLst/>
              <a:latin typeface="源流明體月 M" panose="02020500000000000000" pitchFamily="18" charset="-120"/>
              <a:ea typeface="源流明體月 M" panose="02020500000000000000" pitchFamily="18" charset="-120"/>
            </a:endParaRPr>
          </a:p>
          <a:p>
            <a:pPr lvl="0" defTabSz="914400" eaLnBrk="0" fontAlgn="base" hangingPunct="0">
              <a:lnSpc>
                <a:spcPts val="3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zh-TW" sz="1600" b="0" i="0" u="none" strike="noStrike" cap="none" normalizeH="0" baseline="0" dirty="0">
                <a:ln>
                  <a:noFill/>
                </a:ln>
                <a:solidFill>
                  <a:srgbClr val="F3F3F3"/>
                </a:solidFill>
                <a:effectLst/>
                <a:latin typeface="源流明體月 M" panose="02020500000000000000" pitchFamily="18" charset="-120"/>
                <a:ea typeface="源流明體月 M" panose="02020500000000000000" pitchFamily="18" charset="-120"/>
              </a:rPr>
              <a:t>Danceability </a:t>
            </a:r>
            <a:r>
              <a:rPr kumimoji="0" lang="zh-TW" altLang="en-US" sz="1600" b="0" i="0" u="none" strike="noStrike" cap="none" normalizeH="0" baseline="0" dirty="0">
                <a:ln>
                  <a:noFill/>
                </a:ln>
                <a:solidFill>
                  <a:srgbClr val="F3F3F3"/>
                </a:solidFill>
                <a:effectLst/>
                <a:latin typeface="源流明體月 M" panose="02020500000000000000" pitchFamily="18" charset="-120"/>
                <a:ea typeface="源流明體月 M" panose="02020500000000000000" pitchFamily="18" charset="-120"/>
              </a:rPr>
              <a:t> </a:t>
            </a:r>
            <a:r>
              <a:rPr kumimoji="0" lang="en-US" altLang="zh-TW" sz="1600" b="0" i="0" u="none" strike="noStrike" cap="none" normalizeH="0" baseline="0" dirty="0">
                <a:ln>
                  <a:noFill/>
                </a:ln>
                <a:solidFill>
                  <a:srgbClr val="F3F3F3"/>
                </a:solidFill>
                <a:effectLst/>
                <a:latin typeface="源流明體月 M" panose="02020500000000000000" pitchFamily="18" charset="-120"/>
                <a:ea typeface="源流明體月 M" panose="02020500000000000000" pitchFamily="18" charset="-120"/>
              </a:rPr>
              <a:t>:</a:t>
            </a:r>
            <a:r>
              <a:rPr kumimoji="0" lang="zh-TW" altLang="en-US" sz="1600" b="0" i="0" u="none" strike="noStrike" cap="none" normalizeH="0" baseline="0" dirty="0">
                <a:ln>
                  <a:noFill/>
                </a:ln>
                <a:solidFill>
                  <a:srgbClr val="F3F3F3"/>
                </a:solidFill>
                <a:effectLst/>
                <a:latin typeface="源流明體月 M" panose="02020500000000000000" pitchFamily="18" charset="-120"/>
                <a:ea typeface="源流明體月 M" panose="02020500000000000000" pitchFamily="18" charset="-120"/>
              </a:rPr>
              <a:t> </a:t>
            </a:r>
            <a:r>
              <a:rPr lang="zh-TW" altLang="en-US" sz="1600" dirty="0">
                <a:solidFill>
                  <a:srgbClr val="F3F3F3"/>
                </a:solidFill>
                <a:latin typeface="源流明體月 M" panose="02020500000000000000" pitchFamily="18" charset="-120"/>
                <a:ea typeface="源流明體月 M" panose="02020500000000000000" pitchFamily="18" charset="-120"/>
              </a:rPr>
              <a:t>氣味的擴散速度與活潑度</a:t>
            </a:r>
            <a:endParaRPr lang="en-US" altLang="zh-TW" sz="1600" dirty="0">
              <a:solidFill>
                <a:srgbClr val="F3F3F3"/>
              </a:solidFill>
              <a:latin typeface="源流明體月 M" panose="02020500000000000000" pitchFamily="18" charset="-120"/>
              <a:ea typeface="源流明體月 M" panose="02020500000000000000" pitchFamily="18" charset="-120"/>
            </a:endParaRPr>
          </a:p>
          <a:p>
            <a:pPr lvl="0" defTabSz="914400" eaLnBrk="0" fontAlgn="base" hangingPunct="0">
              <a:lnSpc>
                <a:spcPts val="3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TW" sz="1600" dirty="0">
                <a:solidFill>
                  <a:srgbClr val="F3F3F3"/>
                </a:solidFill>
                <a:latin typeface="源流明體月 M" panose="02020500000000000000" pitchFamily="18" charset="-120"/>
                <a:ea typeface="源流明體月 M" panose="02020500000000000000" pitchFamily="18" charset="-120"/>
              </a:rPr>
              <a:t>Acousticness</a:t>
            </a:r>
            <a:r>
              <a:rPr lang="zh-TW" altLang="en-US" sz="1600" dirty="0">
                <a:solidFill>
                  <a:srgbClr val="F3F3F3"/>
                </a:solidFill>
                <a:latin typeface="源流明體月 M" panose="02020500000000000000" pitchFamily="18" charset="-120"/>
                <a:ea typeface="源流明體月 M" panose="02020500000000000000" pitchFamily="18" charset="-120"/>
              </a:rPr>
              <a:t> </a:t>
            </a:r>
            <a:r>
              <a:rPr lang="en-US" altLang="zh-TW" sz="1600" dirty="0">
                <a:solidFill>
                  <a:srgbClr val="F3F3F3"/>
                </a:solidFill>
                <a:latin typeface="源流明體月 M" panose="02020500000000000000" pitchFamily="18" charset="-120"/>
                <a:ea typeface="源流明體月 M" panose="02020500000000000000" pitchFamily="18" charset="-120"/>
              </a:rPr>
              <a:t>:</a:t>
            </a:r>
            <a:r>
              <a:rPr lang="zh-TW" altLang="en-US" sz="1600" dirty="0">
                <a:solidFill>
                  <a:srgbClr val="F3F3F3"/>
                </a:solidFill>
                <a:latin typeface="源流明體月 M" panose="02020500000000000000" pitchFamily="18" charset="-120"/>
                <a:ea typeface="源流明體月 M" panose="02020500000000000000" pitchFamily="18" charset="-120"/>
              </a:rPr>
              <a:t> 氣味真實</a:t>
            </a:r>
            <a:r>
              <a:rPr lang="en-US" altLang="zh-TW" sz="1600" dirty="0">
                <a:solidFill>
                  <a:srgbClr val="F3F3F3"/>
                </a:solidFill>
                <a:latin typeface="源流明體月 M" panose="02020500000000000000" pitchFamily="18" charset="-120"/>
                <a:ea typeface="源流明體月 M" panose="02020500000000000000" pitchFamily="18" charset="-120"/>
              </a:rPr>
              <a:t>(</a:t>
            </a:r>
            <a:r>
              <a:rPr lang="zh-TW" altLang="en-US" sz="1600" dirty="0">
                <a:solidFill>
                  <a:srgbClr val="F3F3F3"/>
                </a:solidFill>
                <a:latin typeface="源流明體月 M" panose="02020500000000000000" pitchFamily="18" charset="-120"/>
                <a:ea typeface="源流明體月 M" panose="02020500000000000000" pitchFamily="18" charset="-120"/>
              </a:rPr>
              <a:t>天然</a:t>
            </a:r>
            <a:r>
              <a:rPr lang="en-US" altLang="zh-TW" sz="1600" dirty="0">
                <a:solidFill>
                  <a:srgbClr val="F3F3F3"/>
                </a:solidFill>
                <a:latin typeface="源流明體月 M" panose="02020500000000000000" pitchFamily="18" charset="-120"/>
                <a:ea typeface="源流明體月 M" panose="02020500000000000000" pitchFamily="18" charset="-120"/>
              </a:rPr>
              <a:t>)</a:t>
            </a:r>
            <a:r>
              <a:rPr lang="zh-TW" altLang="en-US" sz="1600" dirty="0">
                <a:solidFill>
                  <a:srgbClr val="F3F3F3"/>
                </a:solidFill>
                <a:latin typeface="源流明體月 M" panose="02020500000000000000" pitchFamily="18" charset="-120"/>
                <a:ea typeface="源流明體月 M" panose="02020500000000000000" pitchFamily="18" charset="-120"/>
              </a:rPr>
              <a:t>感</a:t>
            </a:r>
            <a:endParaRPr kumimoji="0" lang="zh-TW" altLang="zh-TW" sz="1600" b="0" i="0" u="none" strike="noStrike" cap="none" normalizeH="0" baseline="0" dirty="0">
              <a:ln>
                <a:noFill/>
              </a:ln>
              <a:solidFill>
                <a:srgbClr val="F3F3F3"/>
              </a:solidFill>
              <a:effectLst/>
              <a:latin typeface="源流明體月 M" panose="02020500000000000000" pitchFamily="18" charset="-120"/>
              <a:ea typeface="源流明體月 M" panose="02020500000000000000" pitchFamily="18" charset="-120"/>
            </a:endParaRP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82A6F0D9-AD4F-49F8-6B71-EAB491A35008}"/>
              </a:ext>
            </a:extLst>
          </p:cNvPr>
          <p:cNvSpPr txBox="1"/>
          <p:nvPr/>
        </p:nvSpPr>
        <p:spPr>
          <a:xfrm>
            <a:off x="293813" y="4912692"/>
            <a:ext cx="5005137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200"/>
              </a:lnSpc>
            </a:pPr>
            <a:r>
              <a:rPr lang="zh-TW" altLang="en-US" sz="2000" dirty="0">
                <a:solidFill>
                  <a:srgbClr val="F3F3F3"/>
                </a:solidFill>
                <a:latin typeface="源流明體月 M" panose="02020500000000000000" pitchFamily="18" charset="-120"/>
                <a:ea typeface="源流明體月 M" panose="02020500000000000000" pitchFamily="18" charset="-120"/>
              </a:rPr>
              <a:t>環境情境分析：</a:t>
            </a:r>
          </a:p>
          <a:p>
            <a:pPr>
              <a:lnSpc>
                <a:spcPts val="3200"/>
              </a:lnSpc>
            </a:pPr>
            <a:r>
              <a:rPr lang="zh-TW" altLang="en-US" sz="1600" dirty="0">
                <a:solidFill>
                  <a:srgbClr val="F3F3F3"/>
                </a:solidFill>
                <a:latin typeface="源流明體月 M" panose="02020500000000000000" pitchFamily="18" charset="-120"/>
                <a:ea typeface="源流明體月 M" panose="02020500000000000000" pitchFamily="18" charset="-120"/>
              </a:rPr>
              <a:t>天氣狀態：晴天、雨天、陰天、雪</a:t>
            </a:r>
            <a:r>
              <a:rPr lang="en-US" altLang="zh-TW" sz="1600" dirty="0">
                <a:solidFill>
                  <a:srgbClr val="F3F3F3"/>
                </a:solidFill>
                <a:latin typeface="源流明體月 M" panose="02020500000000000000" pitchFamily="18" charset="-120"/>
                <a:ea typeface="源流明體月 M" panose="02020500000000000000" pitchFamily="18" charset="-120"/>
              </a:rPr>
              <a:t>…</a:t>
            </a:r>
            <a:r>
              <a:rPr lang="zh-TW" altLang="en-US" sz="1600" dirty="0">
                <a:solidFill>
                  <a:srgbClr val="F3F3F3"/>
                </a:solidFill>
                <a:latin typeface="源流明體月 M" panose="02020500000000000000" pitchFamily="18" charset="-120"/>
                <a:ea typeface="源流明體月 M" panose="02020500000000000000" pitchFamily="18" charset="-120"/>
              </a:rPr>
              <a:t>。</a:t>
            </a:r>
          </a:p>
          <a:p>
            <a:pPr>
              <a:lnSpc>
                <a:spcPts val="3200"/>
              </a:lnSpc>
            </a:pPr>
            <a:r>
              <a:rPr lang="zh-TW" altLang="en-US" sz="1600" dirty="0">
                <a:solidFill>
                  <a:srgbClr val="F3F3F3"/>
                </a:solidFill>
                <a:latin typeface="源流明體月 M" panose="02020500000000000000" pitchFamily="18" charset="-120"/>
                <a:ea typeface="源流明體月 M" panose="02020500000000000000" pitchFamily="18" charset="-120"/>
              </a:rPr>
              <a:t>溫度</a:t>
            </a:r>
            <a:r>
              <a:rPr lang="en-US" altLang="zh-TW" sz="1600" dirty="0">
                <a:solidFill>
                  <a:srgbClr val="F3F3F3"/>
                </a:solidFill>
                <a:latin typeface="源流明體月 M" panose="02020500000000000000" pitchFamily="18" charset="-120"/>
                <a:ea typeface="源流明體月 M" panose="02020500000000000000" pitchFamily="18" charset="-120"/>
              </a:rPr>
              <a:t> </a:t>
            </a:r>
            <a:r>
              <a:rPr lang="zh-TW" altLang="en-US" sz="1600" dirty="0">
                <a:solidFill>
                  <a:srgbClr val="F3F3F3"/>
                </a:solidFill>
                <a:latin typeface="源流明體月 M" panose="02020500000000000000" pitchFamily="18" charset="-120"/>
                <a:ea typeface="源流明體月 M" panose="02020500000000000000" pitchFamily="18" charset="-120"/>
              </a:rPr>
              <a:t>與 濕度：決定氣味的「冷暖感」補償。</a:t>
            </a:r>
          </a:p>
          <a:p>
            <a:endParaRPr lang="zh-TW" altLang="en-US" dirty="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4D0C1F3-31A4-9E32-5CCB-F772ADC3CF58}"/>
              </a:ext>
            </a:extLst>
          </p:cNvPr>
          <p:cNvSpPr/>
          <p:nvPr/>
        </p:nvSpPr>
        <p:spPr>
          <a:xfrm>
            <a:off x="4976239" y="2258209"/>
            <a:ext cx="2753455" cy="1822904"/>
          </a:xfrm>
          <a:prstGeom prst="rect">
            <a:avLst/>
          </a:prstGeom>
          <a:solidFill>
            <a:srgbClr val="5F8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910C9592-180B-E05A-2674-4710AD4C72AE}"/>
              </a:ext>
            </a:extLst>
          </p:cNvPr>
          <p:cNvSpPr txBox="1"/>
          <p:nvPr/>
        </p:nvSpPr>
        <p:spPr>
          <a:xfrm>
            <a:off x="5066268" y="2620216"/>
            <a:ext cx="2638245" cy="9896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800"/>
              </a:lnSpc>
            </a:pPr>
            <a:r>
              <a:rPr lang="en-US" altLang="zh-TW" spc="130" dirty="0">
                <a:solidFill>
                  <a:srgbClr val="F3F3F3"/>
                </a:solidFill>
                <a:latin typeface="源流明體月 M" panose="02020500000000000000" pitchFamily="18" charset="-120"/>
                <a:ea typeface="源流明體月 M" panose="02020500000000000000" pitchFamily="18" charset="-120"/>
              </a:rPr>
              <a:t># </a:t>
            </a:r>
            <a:r>
              <a:rPr lang="zh-TW" altLang="en-US" spc="130" dirty="0">
                <a:solidFill>
                  <a:srgbClr val="F3F3F3"/>
                </a:solidFill>
                <a:latin typeface="源流明體月 M" panose="02020500000000000000" pitchFamily="18" charset="-120"/>
                <a:ea typeface="源流明體月 M" panose="02020500000000000000" pitchFamily="18" charset="-120"/>
              </a:rPr>
              <a:t>古典制約與情緒錨點 </a:t>
            </a:r>
            <a:endParaRPr lang="en-US" altLang="zh-TW" spc="130" dirty="0">
              <a:solidFill>
                <a:srgbClr val="F3F3F3"/>
              </a:solidFill>
              <a:latin typeface="源流明體月 M" panose="02020500000000000000" pitchFamily="18" charset="-120"/>
              <a:ea typeface="源流明體月 M" panose="02020500000000000000" pitchFamily="18" charset="-120"/>
            </a:endParaRPr>
          </a:p>
          <a:p>
            <a:pPr>
              <a:lnSpc>
                <a:spcPts val="3800"/>
              </a:lnSpc>
            </a:pPr>
            <a:r>
              <a:rPr lang="en-US" altLang="zh-TW" spc="130" dirty="0">
                <a:solidFill>
                  <a:srgbClr val="F3F3F3"/>
                </a:solidFill>
                <a:latin typeface="源流明體月 M" panose="02020500000000000000" pitchFamily="18" charset="-120"/>
                <a:ea typeface="源流明體月 M" panose="02020500000000000000" pitchFamily="18" charset="-120"/>
              </a:rPr>
              <a:t># </a:t>
            </a:r>
            <a:r>
              <a:rPr lang="zh-TW" altLang="en-US" spc="130" dirty="0">
                <a:solidFill>
                  <a:srgbClr val="F3F3F3"/>
                </a:solidFill>
                <a:latin typeface="源流明體月 M" panose="02020500000000000000" pitchFamily="18" charset="-120"/>
                <a:ea typeface="源流明體月 M" panose="02020500000000000000" pitchFamily="18" charset="-120"/>
              </a:rPr>
              <a:t>跨感官一致性 </a:t>
            </a:r>
            <a:endParaRPr lang="en-US" altLang="zh-TW" spc="130" dirty="0">
              <a:solidFill>
                <a:srgbClr val="F3F3F3"/>
              </a:solidFill>
              <a:latin typeface="源流明體月 M" panose="02020500000000000000" pitchFamily="18" charset="-120"/>
              <a:ea typeface="源流明體月 M" panose="02020500000000000000" pitchFamily="18" charset="-12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F2E98E8-265A-F75C-E5ED-3C8FCF75FFD8}"/>
              </a:ext>
            </a:extLst>
          </p:cNvPr>
          <p:cNvSpPr/>
          <p:nvPr/>
        </p:nvSpPr>
        <p:spPr>
          <a:xfrm>
            <a:off x="4983453" y="4459252"/>
            <a:ext cx="2746241" cy="1822904"/>
          </a:xfrm>
          <a:prstGeom prst="rect">
            <a:avLst/>
          </a:prstGeom>
          <a:solidFill>
            <a:srgbClr val="B8D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CA304454-CAB5-2A1A-AF4A-DC46703FA3B9}"/>
              </a:ext>
            </a:extLst>
          </p:cNvPr>
          <p:cNvSpPr txBox="1"/>
          <p:nvPr/>
        </p:nvSpPr>
        <p:spPr>
          <a:xfrm>
            <a:off x="5066268" y="4589602"/>
            <a:ext cx="1775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pc="120" dirty="0">
                <a:latin typeface="源流明體月 M" panose="02020500000000000000" pitchFamily="18" charset="-120"/>
                <a:ea typeface="源流明體月 M" panose="02020500000000000000" pitchFamily="18" charset="-120"/>
              </a:rPr>
              <a:t>回饋機制</a:t>
            </a:r>
            <a:r>
              <a:rPr lang="en-US" altLang="zh-TW" spc="120" dirty="0">
                <a:latin typeface="源流明體月 M" panose="02020500000000000000" pitchFamily="18" charset="-120"/>
                <a:ea typeface="源流明體月 M" panose="02020500000000000000" pitchFamily="18" charset="-120"/>
              </a:rPr>
              <a:t>(</a:t>
            </a:r>
            <a:r>
              <a:rPr lang="zh-TW" altLang="en-US" spc="120">
                <a:latin typeface="源流明體月 M" panose="02020500000000000000" pitchFamily="18" charset="-120"/>
                <a:ea typeface="源流明體月 M" panose="02020500000000000000" pitchFamily="18" charset="-120"/>
              </a:rPr>
              <a:t>未來</a:t>
            </a:r>
            <a:r>
              <a:rPr lang="en-US" altLang="zh-TW" spc="120">
                <a:latin typeface="源流明體月 M" panose="02020500000000000000" pitchFamily="18" charset="-120"/>
                <a:ea typeface="源流明體月 M" panose="02020500000000000000" pitchFamily="18" charset="-120"/>
              </a:rPr>
              <a:t>)</a:t>
            </a:r>
            <a:endParaRPr lang="zh-TW" altLang="en-US" spc="120" dirty="0">
              <a:latin typeface="源流明體月 M" panose="02020500000000000000" pitchFamily="18" charset="-120"/>
              <a:ea typeface="源流明體月 M" panose="02020500000000000000" pitchFamily="18" charset="-120"/>
            </a:endParaRP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1A01D1B2-CCE8-B3BB-4A31-465D1ECD34F2}"/>
              </a:ext>
            </a:extLst>
          </p:cNvPr>
          <p:cNvSpPr txBox="1"/>
          <p:nvPr/>
        </p:nvSpPr>
        <p:spPr>
          <a:xfrm>
            <a:off x="5096212" y="5030650"/>
            <a:ext cx="25487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pc="120" dirty="0">
                <a:latin typeface="源流明體月 M" panose="02020500000000000000" pitchFamily="18" charset="-120"/>
                <a:ea typeface="源流明體月 M" panose="02020500000000000000" pitchFamily="18" charset="-120"/>
              </a:rPr>
              <a:t>&lt;3       </a:t>
            </a:r>
            <a:r>
              <a:rPr lang="zh-TW" altLang="en-US" spc="120" dirty="0">
                <a:latin typeface="源流明體月 M" panose="02020500000000000000" pitchFamily="18" charset="-120"/>
                <a:ea typeface="源流明體月 M" panose="02020500000000000000" pitchFamily="18" charset="-120"/>
              </a:rPr>
              <a:t>演算降低機率</a:t>
            </a:r>
            <a:r>
              <a:rPr lang="en-US" altLang="zh-TW" spc="120" dirty="0">
                <a:latin typeface="源流明體月 M" panose="02020500000000000000" pitchFamily="18" charset="-120"/>
                <a:ea typeface="源流明體月 M" panose="02020500000000000000" pitchFamily="18" charset="-120"/>
              </a:rPr>
              <a:t>   </a:t>
            </a:r>
          </a:p>
          <a:p>
            <a:endParaRPr lang="en-US" altLang="zh-TW" spc="120" dirty="0">
              <a:latin typeface="源流明體月 M" panose="02020500000000000000" pitchFamily="18" charset="-120"/>
              <a:ea typeface="源流明體月 M" panose="02020500000000000000" pitchFamily="18" charset="-120"/>
            </a:endParaRPr>
          </a:p>
          <a:p>
            <a:r>
              <a:rPr lang="en-US" altLang="zh-TW" spc="120" dirty="0">
                <a:latin typeface="源流明體月 M" panose="02020500000000000000" pitchFamily="18" charset="-120"/>
                <a:ea typeface="源流明體月 M" panose="02020500000000000000" pitchFamily="18" charset="-120"/>
              </a:rPr>
              <a:t>&gt;3       </a:t>
            </a:r>
            <a:r>
              <a:rPr lang="zh-TW" altLang="en-US" spc="140" dirty="0">
                <a:latin typeface="源流明體月 M" panose="02020500000000000000" pitchFamily="18" charset="-120"/>
                <a:ea typeface="源流明體月 M" panose="02020500000000000000" pitchFamily="18" charset="-120"/>
              </a:rPr>
              <a:t>維持</a:t>
            </a:r>
          </a:p>
        </p:txBody>
      </p:sp>
      <p:sp>
        <p:nvSpPr>
          <p:cNvPr id="25" name="星形: 五角 24">
            <a:extLst>
              <a:ext uri="{FF2B5EF4-FFF2-40B4-BE49-F238E27FC236}">
                <a16:creationId xmlns:a16="http://schemas.microsoft.com/office/drawing/2014/main" id="{44DE2592-AAFF-CDCE-6F33-CB735DC43B18}"/>
              </a:ext>
            </a:extLst>
          </p:cNvPr>
          <p:cNvSpPr/>
          <p:nvPr/>
        </p:nvSpPr>
        <p:spPr>
          <a:xfrm>
            <a:off x="5512865" y="5057636"/>
            <a:ext cx="336884" cy="291776"/>
          </a:xfrm>
          <a:prstGeom prst="star5">
            <a:avLst/>
          </a:prstGeom>
          <a:solidFill>
            <a:srgbClr val="F6F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星形: 五角 25">
            <a:extLst>
              <a:ext uri="{FF2B5EF4-FFF2-40B4-BE49-F238E27FC236}">
                <a16:creationId xmlns:a16="http://schemas.microsoft.com/office/drawing/2014/main" id="{11E87F66-DA24-D332-95A0-1AB112C04D20}"/>
              </a:ext>
            </a:extLst>
          </p:cNvPr>
          <p:cNvSpPr/>
          <p:nvPr/>
        </p:nvSpPr>
        <p:spPr>
          <a:xfrm>
            <a:off x="5512865" y="5629034"/>
            <a:ext cx="336884" cy="291776"/>
          </a:xfrm>
          <a:prstGeom prst="star5">
            <a:avLst/>
          </a:prstGeom>
          <a:solidFill>
            <a:srgbClr val="F6F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513449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9F8D8C-5770-23A6-075A-E1F31508AE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3338C60-29A1-42D2-10AB-84C1B23BEB1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9264073" cy="7047345"/>
          </a:xfrm>
          <a:prstGeom prst="rect">
            <a:avLst/>
          </a:prstGeom>
          <a:solidFill>
            <a:srgbClr val="DED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4" name="直線接點 3">
            <a:extLst>
              <a:ext uri="{FF2B5EF4-FFF2-40B4-BE49-F238E27FC236}">
                <a16:creationId xmlns:a16="http://schemas.microsoft.com/office/drawing/2014/main" id="{F58BE4F4-D7DE-0A63-C5A5-E37E15DDA912}"/>
              </a:ext>
            </a:extLst>
          </p:cNvPr>
          <p:cNvCxnSpPr>
            <a:cxnSpLocks/>
          </p:cNvCxnSpPr>
          <p:nvPr/>
        </p:nvCxnSpPr>
        <p:spPr>
          <a:xfrm>
            <a:off x="834670" y="599301"/>
            <a:ext cx="0" cy="1017744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  <a:alpha val="76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直線接點 5">
            <a:extLst>
              <a:ext uri="{FF2B5EF4-FFF2-40B4-BE49-F238E27FC236}">
                <a16:creationId xmlns:a16="http://schemas.microsoft.com/office/drawing/2014/main" id="{7C93F561-3C1E-3B4F-4F46-4E9474368A3C}"/>
              </a:ext>
            </a:extLst>
          </p:cNvPr>
          <p:cNvCxnSpPr>
            <a:cxnSpLocks/>
          </p:cNvCxnSpPr>
          <p:nvPr/>
        </p:nvCxnSpPr>
        <p:spPr>
          <a:xfrm>
            <a:off x="834670" y="1570873"/>
            <a:ext cx="2611174" cy="0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  <a:alpha val="76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DCC1A9A6-A202-29DD-906E-03CC98028FCF}"/>
              </a:ext>
            </a:extLst>
          </p:cNvPr>
          <p:cNvCxnSpPr>
            <a:cxnSpLocks/>
          </p:cNvCxnSpPr>
          <p:nvPr/>
        </p:nvCxnSpPr>
        <p:spPr>
          <a:xfrm>
            <a:off x="3445844" y="599301"/>
            <a:ext cx="0" cy="1017744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  <a:alpha val="76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0">
            <a:extLst>
              <a:ext uri="{FF2B5EF4-FFF2-40B4-BE49-F238E27FC236}">
                <a16:creationId xmlns:a16="http://schemas.microsoft.com/office/drawing/2014/main" id="{DE39DCB5-281E-D1DC-3FB3-FB92A2B7CAE1}"/>
              </a:ext>
            </a:extLst>
          </p:cNvPr>
          <p:cNvCxnSpPr>
            <a:cxnSpLocks/>
          </p:cNvCxnSpPr>
          <p:nvPr/>
        </p:nvCxnSpPr>
        <p:spPr>
          <a:xfrm>
            <a:off x="834670" y="590027"/>
            <a:ext cx="2611174" cy="0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  <a:alpha val="76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BBC12A35-5D9C-C387-298F-11351A2CE481}"/>
              </a:ext>
            </a:extLst>
          </p:cNvPr>
          <p:cNvSpPr/>
          <p:nvPr/>
        </p:nvSpPr>
        <p:spPr>
          <a:xfrm>
            <a:off x="834670" y="585397"/>
            <a:ext cx="2611173" cy="980840"/>
          </a:xfrm>
          <a:prstGeom prst="rect">
            <a:avLst/>
          </a:prstGeom>
          <a:solidFill>
            <a:schemeClr val="tx1">
              <a:lumMod val="65000"/>
              <a:lumOff val="35000"/>
              <a:alpha val="7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0E08F6B8-7376-BBE8-E14F-973106827973}"/>
              </a:ext>
            </a:extLst>
          </p:cNvPr>
          <p:cNvSpPr txBox="1"/>
          <p:nvPr/>
        </p:nvSpPr>
        <p:spPr>
          <a:xfrm>
            <a:off x="168292" y="723452"/>
            <a:ext cx="394392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spc="230" dirty="0">
                <a:solidFill>
                  <a:srgbClr val="A4E0B8"/>
                </a:solidFill>
                <a:latin typeface="思源宋體 Heavy" panose="02020900000000000000" pitchFamily="18" charset="-120"/>
                <a:ea typeface="思源宋體 Heavy" panose="02020900000000000000" pitchFamily="18" charset="-120"/>
              </a:rPr>
              <a:t>競爭分析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6007DD6A-C22F-F6F5-7EE9-4FB2D4B3DD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9684424"/>
              </p:ext>
            </p:extLst>
          </p:nvPr>
        </p:nvGraphicFramePr>
        <p:xfrm>
          <a:off x="692206" y="1775440"/>
          <a:ext cx="8183100" cy="4543012"/>
        </p:xfrm>
        <a:graphic>
          <a:graphicData uri="http://schemas.openxmlformats.org/drawingml/2006/table">
            <a:tbl>
              <a:tblPr/>
              <a:tblGrid>
                <a:gridCol w="1636620">
                  <a:extLst>
                    <a:ext uri="{9D8B030D-6E8A-4147-A177-3AD203B41FA5}">
                      <a16:colId xmlns:a16="http://schemas.microsoft.com/office/drawing/2014/main" val="319897764"/>
                    </a:ext>
                  </a:extLst>
                </a:gridCol>
                <a:gridCol w="1636620">
                  <a:extLst>
                    <a:ext uri="{9D8B030D-6E8A-4147-A177-3AD203B41FA5}">
                      <a16:colId xmlns:a16="http://schemas.microsoft.com/office/drawing/2014/main" val="1629776084"/>
                    </a:ext>
                  </a:extLst>
                </a:gridCol>
                <a:gridCol w="1636620">
                  <a:extLst>
                    <a:ext uri="{9D8B030D-6E8A-4147-A177-3AD203B41FA5}">
                      <a16:colId xmlns:a16="http://schemas.microsoft.com/office/drawing/2014/main" val="3384255182"/>
                    </a:ext>
                  </a:extLst>
                </a:gridCol>
                <a:gridCol w="1636620">
                  <a:extLst>
                    <a:ext uri="{9D8B030D-6E8A-4147-A177-3AD203B41FA5}">
                      <a16:colId xmlns:a16="http://schemas.microsoft.com/office/drawing/2014/main" val="3671964816"/>
                    </a:ext>
                  </a:extLst>
                </a:gridCol>
                <a:gridCol w="1636620">
                  <a:extLst>
                    <a:ext uri="{9D8B030D-6E8A-4147-A177-3AD203B41FA5}">
                      <a16:colId xmlns:a16="http://schemas.microsoft.com/office/drawing/2014/main" val="1680963644"/>
                    </a:ext>
                  </a:extLst>
                </a:gridCol>
              </a:tblGrid>
              <a:tr h="373796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TW" altLang="en-US" sz="1800" b="1">
                          <a:solidFill>
                            <a:srgbClr val="1F1F1F"/>
                          </a:solidFill>
                          <a:effectLst/>
                          <a:latin typeface="Source Han Serif K Heavy" panose="02020900000000000000" pitchFamily="18" charset="-128"/>
                          <a:ea typeface="Source Han Serif K Heavy" panose="02020900000000000000" pitchFamily="18" charset="-128"/>
                        </a:rPr>
                        <a:t>品牌</a:t>
                      </a:r>
                      <a:r>
                        <a:rPr lang="en-US" altLang="zh-TW" sz="1800" b="1">
                          <a:solidFill>
                            <a:srgbClr val="1F1F1F"/>
                          </a:solidFill>
                          <a:effectLst/>
                          <a:latin typeface="Source Han Serif K Heavy" panose="02020900000000000000" pitchFamily="18" charset="-128"/>
                          <a:ea typeface="Source Han Serif K Heavy" panose="02020900000000000000" pitchFamily="18" charset="-128"/>
                        </a:rPr>
                        <a:t>/</a:t>
                      </a:r>
                      <a:r>
                        <a:rPr lang="zh-TW" altLang="en-US" sz="1800" b="1">
                          <a:solidFill>
                            <a:srgbClr val="1F1F1F"/>
                          </a:solidFill>
                          <a:effectLst/>
                          <a:latin typeface="Source Han Serif K Heavy" panose="02020900000000000000" pitchFamily="18" charset="-128"/>
                          <a:ea typeface="Source Han Serif K Heavy" panose="02020900000000000000" pitchFamily="18" charset="-128"/>
                        </a:rPr>
                        <a:t>類型</a:t>
                      </a:r>
                      <a:endParaRPr lang="zh-TW" altLang="en-US" sz="1800">
                        <a:solidFill>
                          <a:srgbClr val="1F1F1F"/>
                        </a:solidFill>
                        <a:effectLst/>
                        <a:latin typeface="Source Han Serif K Heavy" panose="02020900000000000000" pitchFamily="18" charset="-128"/>
                        <a:ea typeface="Source Han Serif K Heavy" panose="02020900000000000000" pitchFamily="18" charset="-128"/>
                      </a:endParaRPr>
                    </a:p>
                  </a:txBody>
                  <a:tcPr marL="75769" marR="75769" marT="50513" marB="50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TW" altLang="en-US" sz="1800" b="1" dirty="0">
                          <a:solidFill>
                            <a:srgbClr val="1F1F1F"/>
                          </a:solidFill>
                          <a:effectLst/>
                          <a:latin typeface="Source Han Serif K Heavy" panose="02020900000000000000" pitchFamily="18" charset="-128"/>
                          <a:ea typeface="Source Han Serif K Heavy" panose="02020900000000000000" pitchFamily="18" charset="-128"/>
                        </a:rPr>
                        <a:t>代表產品</a:t>
                      </a:r>
                      <a:r>
                        <a:rPr lang="en-US" altLang="zh-TW" sz="1800" b="1" dirty="0">
                          <a:solidFill>
                            <a:srgbClr val="1F1F1F"/>
                          </a:solidFill>
                          <a:effectLst/>
                          <a:latin typeface="Source Han Serif K Heavy" panose="02020900000000000000" pitchFamily="18" charset="-128"/>
                          <a:ea typeface="Source Han Serif K Heavy" panose="02020900000000000000" pitchFamily="18" charset="-128"/>
                        </a:rPr>
                        <a:t>/</a:t>
                      </a:r>
                      <a:r>
                        <a:rPr lang="zh-TW" altLang="en-US" sz="1800" b="1" dirty="0">
                          <a:solidFill>
                            <a:srgbClr val="1F1F1F"/>
                          </a:solidFill>
                          <a:effectLst/>
                          <a:latin typeface="Source Han Serif K Heavy" panose="02020900000000000000" pitchFamily="18" charset="-128"/>
                          <a:ea typeface="Source Han Serif K Heavy" panose="02020900000000000000" pitchFamily="18" charset="-128"/>
                        </a:rPr>
                        <a:t>品牌</a:t>
                      </a:r>
                      <a:endParaRPr lang="zh-TW" altLang="en-US" sz="1800" dirty="0">
                        <a:solidFill>
                          <a:srgbClr val="1F1F1F"/>
                        </a:solidFill>
                        <a:effectLst/>
                        <a:latin typeface="Source Han Serif K Heavy" panose="02020900000000000000" pitchFamily="18" charset="-128"/>
                        <a:ea typeface="Source Han Serif K Heavy" panose="02020900000000000000" pitchFamily="18" charset="-128"/>
                      </a:endParaRPr>
                    </a:p>
                  </a:txBody>
                  <a:tcPr marL="75769" marR="75769" marT="50513" marB="50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TW" altLang="en-US" sz="1800" b="1">
                          <a:solidFill>
                            <a:srgbClr val="1F1F1F"/>
                          </a:solidFill>
                          <a:effectLst/>
                          <a:latin typeface="Source Han Serif K Heavy" panose="02020900000000000000" pitchFamily="18" charset="-128"/>
                          <a:ea typeface="Source Han Serif K Heavy" panose="02020900000000000000" pitchFamily="18" charset="-128"/>
                        </a:rPr>
                        <a:t>自動化程度</a:t>
                      </a:r>
                      <a:endParaRPr lang="zh-TW" altLang="en-US" sz="1800">
                        <a:solidFill>
                          <a:srgbClr val="1F1F1F"/>
                        </a:solidFill>
                        <a:effectLst/>
                        <a:latin typeface="Source Han Serif K Heavy" panose="02020900000000000000" pitchFamily="18" charset="-128"/>
                        <a:ea typeface="Source Han Serif K Heavy" panose="02020900000000000000" pitchFamily="18" charset="-128"/>
                      </a:endParaRPr>
                    </a:p>
                  </a:txBody>
                  <a:tcPr marL="75769" marR="75769" marT="50513" marB="50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TW" altLang="en-US" sz="1800" b="1">
                          <a:solidFill>
                            <a:srgbClr val="1F1F1F"/>
                          </a:solidFill>
                          <a:effectLst/>
                          <a:latin typeface="Source Han Serif K Heavy" panose="02020900000000000000" pitchFamily="18" charset="-128"/>
                          <a:ea typeface="Source Han Serif K Heavy" panose="02020900000000000000" pitchFamily="18" charset="-128"/>
                        </a:rPr>
                        <a:t>感官連結維度</a:t>
                      </a:r>
                      <a:endParaRPr lang="zh-TW" altLang="en-US" sz="1800">
                        <a:solidFill>
                          <a:srgbClr val="1F1F1F"/>
                        </a:solidFill>
                        <a:effectLst/>
                        <a:latin typeface="Source Han Serif K Heavy" panose="02020900000000000000" pitchFamily="18" charset="-128"/>
                        <a:ea typeface="Source Han Serif K Heavy" panose="02020900000000000000" pitchFamily="18" charset="-128"/>
                      </a:endParaRPr>
                    </a:p>
                  </a:txBody>
                  <a:tcPr marL="75769" marR="75769" marT="50513" marB="50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TW" altLang="en-US" sz="1800" b="1" dirty="0">
                          <a:solidFill>
                            <a:srgbClr val="1F1F1F"/>
                          </a:solidFill>
                          <a:effectLst/>
                          <a:latin typeface="Source Han Serif K Heavy" panose="02020900000000000000" pitchFamily="18" charset="-128"/>
                          <a:ea typeface="Source Han Serif K Heavy" panose="02020900000000000000" pitchFamily="18" charset="-128"/>
                        </a:rPr>
                        <a:t>象限歸屬</a:t>
                      </a:r>
                      <a:endParaRPr lang="zh-TW" altLang="en-US" sz="1800" dirty="0">
                        <a:solidFill>
                          <a:srgbClr val="1F1F1F"/>
                        </a:solidFill>
                        <a:effectLst/>
                        <a:latin typeface="Source Han Serif K Heavy" panose="02020900000000000000" pitchFamily="18" charset="-128"/>
                        <a:ea typeface="Source Han Serif K Heavy" panose="02020900000000000000" pitchFamily="18" charset="-128"/>
                      </a:endParaRPr>
                    </a:p>
                  </a:txBody>
                  <a:tcPr marL="75769" marR="75769" marT="50513" marB="50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4251514"/>
                  </a:ext>
                </a:extLst>
              </a:tr>
              <a:tr h="919336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TW" altLang="en-US" sz="1800" b="1">
                          <a:solidFill>
                            <a:srgbClr val="1F1F1F"/>
                          </a:solidFill>
                          <a:effectLst/>
                          <a:latin typeface="Source Han Serif K Heavy" panose="02020900000000000000" pitchFamily="18" charset="-128"/>
                          <a:ea typeface="Source Han Serif K Heavy" panose="02020900000000000000" pitchFamily="18" charset="-128"/>
                        </a:rPr>
                        <a:t>頂級智慧香氛</a:t>
                      </a:r>
                      <a:endParaRPr lang="zh-TW" altLang="en-US" sz="1800">
                        <a:solidFill>
                          <a:srgbClr val="1F1F1F"/>
                        </a:solidFill>
                        <a:effectLst/>
                        <a:latin typeface="Source Han Serif K Heavy" panose="02020900000000000000" pitchFamily="18" charset="-128"/>
                        <a:ea typeface="Source Han Serif K Heavy" panose="02020900000000000000" pitchFamily="18" charset="-128"/>
                      </a:endParaRPr>
                    </a:p>
                  </a:txBody>
                  <a:tcPr marL="75769" marR="75769" marT="50513" marB="50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b="1" dirty="0">
                          <a:solidFill>
                            <a:srgbClr val="1F1F1F"/>
                          </a:solidFill>
                          <a:effectLst/>
                          <a:latin typeface="Source Han Serif K Heavy" panose="02020900000000000000" pitchFamily="18" charset="-128"/>
                          <a:ea typeface="Source Han Serif K Heavy" panose="02020900000000000000" pitchFamily="18" charset="-128"/>
                        </a:rPr>
                        <a:t>Pura</a:t>
                      </a:r>
                      <a:r>
                        <a:rPr lang="en-US" sz="1800" dirty="0">
                          <a:solidFill>
                            <a:srgbClr val="1F1F1F"/>
                          </a:solidFill>
                          <a:effectLst/>
                          <a:latin typeface="Source Han Serif K Heavy" panose="02020900000000000000" pitchFamily="18" charset="-128"/>
                          <a:ea typeface="Source Han Serif K Heavy" panose="02020900000000000000" pitchFamily="18" charset="-128"/>
                        </a:rPr>
                        <a:t>, </a:t>
                      </a:r>
                      <a:r>
                        <a:rPr lang="en-US" sz="1800" b="1" dirty="0">
                          <a:solidFill>
                            <a:srgbClr val="1F1F1F"/>
                          </a:solidFill>
                          <a:effectLst/>
                          <a:latin typeface="Source Han Serif K Heavy" panose="02020900000000000000" pitchFamily="18" charset="-128"/>
                          <a:ea typeface="Source Han Serif K Heavy" panose="02020900000000000000" pitchFamily="18" charset="-128"/>
                        </a:rPr>
                        <a:t>Aera</a:t>
                      </a:r>
                      <a:endParaRPr lang="en-US" sz="1800" dirty="0">
                        <a:solidFill>
                          <a:srgbClr val="1F1F1F"/>
                        </a:solidFill>
                        <a:effectLst/>
                        <a:latin typeface="Source Han Serif K Heavy" panose="02020900000000000000" pitchFamily="18" charset="-128"/>
                        <a:ea typeface="Source Han Serif K Heavy" panose="02020900000000000000" pitchFamily="18" charset="-128"/>
                      </a:endParaRPr>
                    </a:p>
                  </a:txBody>
                  <a:tcPr marL="75769" marR="75769" marT="50513" marB="50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TW" altLang="en-US" sz="1800">
                          <a:solidFill>
                            <a:srgbClr val="1F1F1F"/>
                          </a:solidFill>
                          <a:effectLst/>
                          <a:latin typeface="Source Han Serif K Heavy" panose="02020900000000000000" pitchFamily="18" charset="-128"/>
                          <a:ea typeface="Source Han Serif K Heavy" panose="02020900000000000000" pitchFamily="18" charset="-128"/>
                        </a:rPr>
                        <a:t>高（</a:t>
                      </a:r>
                      <a:r>
                        <a:rPr lang="en-US" altLang="zh-TW" sz="1800">
                          <a:solidFill>
                            <a:srgbClr val="1F1F1F"/>
                          </a:solidFill>
                          <a:effectLst/>
                          <a:latin typeface="Source Han Serif K Heavy" panose="02020900000000000000" pitchFamily="18" charset="-128"/>
                          <a:ea typeface="Source Han Serif K Heavy" panose="02020900000000000000" pitchFamily="18" charset="-128"/>
                        </a:rPr>
                        <a:t>App </a:t>
                      </a:r>
                      <a:r>
                        <a:rPr lang="zh-TW" altLang="en-US" sz="1800">
                          <a:solidFill>
                            <a:srgbClr val="1F1F1F"/>
                          </a:solidFill>
                          <a:effectLst/>
                          <a:latin typeface="Source Han Serif K Heavy" panose="02020900000000000000" pitchFamily="18" charset="-128"/>
                          <a:ea typeface="Source Han Serif K Heavy" panose="02020900000000000000" pitchFamily="18" charset="-128"/>
                        </a:rPr>
                        <a:t>排程</a:t>
                      </a:r>
                      <a:r>
                        <a:rPr lang="en-US" altLang="zh-TW" sz="1800">
                          <a:solidFill>
                            <a:srgbClr val="1F1F1F"/>
                          </a:solidFill>
                          <a:effectLst/>
                          <a:latin typeface="Source Han Serif K Heavy" panose="02020900000000000000" pitchFamily="18" charset="-128"/>
                          <a:ea typeface="Source Han Serif K Heavy" panose="02020900000000000000" pitchFamily="18" charset="-128"/>
                        </a:rPr>
                        <a:t>/</a:t>
                      </a:r>
                      <a:r>
                        <a:rPr lang="zh-TW" altLang="en-US" sz="1800">
                          <a:solidFill>
                            <a:srgbClr val="1F1F1F"/>
                          </a:solidFill>
                          <a:effectLst/>
                          <a:latin typeface="Source Han Serif K Heavy" panose="02020900000000000000" pitchFamily="18" charset="-128"/>
                          <a:ea typeface="Source Han Serif K Heavy" panose="02020900000000000000" pitchFamily="18" charset="-128"/>
                        </a:rPr>
                        <a:t>地理圍欄）</a:t>
                      </a:r>
                    </a:p>
                  </a:txBody>
                  <a:tcPr marL="75769" marR="75769" marT="50513" marB="50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TW" altLang="en-US" sz="1800">
                          <a:solidFill>
                            <a:srgbClr val="1F1F1F"/>
                          </a:solidFill>
                          <a:effectLst/>
                          <a:latin typeface="Source Han Serif K Heavy" panose="02020900000000000000" pitchFamily="18" charset="-128"/>
                          <a:ea typeface="Source Han Serif K Heavy" panose="02020900000000000000" pitchFamily="18" charset="-128"/>
                        </a:rPr>
                        <a:t>單一（僅香氛，部分含夜燈）</a:t>
                      </a:r>
                    </a:p>
                  </a:txBody>
                  <a:tcPr marL="75769" marR="75769" marT="50513" marB="50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b="1" dirty="0">
                          <a:solidFill>
                            <a:srgbClr val="1F1F1F"/>
                          </a:solidFill>
                          <a:effectLst/>
                          <a:latin typeface="Source Han Serif K Heavy" panose="02020900000000000000" pitchFamily="18" charset="-128"/>
                          <a:ea typeface="Source Han Serif K Heavy" panose="02020900000000000000" pitchFamily="18" charset="-128"/>
                        </a:rPr>
                        <a:t>Q4</a:t>
                      </a:r>
                      <a:endParaRPr lang="en-US" sz="1800" dirty="0">
                        <a:solidFill>
                          <a:srgbClr val="1F1F1F"/>
                        </a:solidFill>
                        <a:effectLst/>
                        <a:latin typeface="Source Han Serif K Heavy" panose="02020900000000000000" pitchFamily="18" charset="-128"/>
                        <a:ea typeface="Source Han Serif K Heavy" panose="02020900000000000000" pitchFamily="18" charset="-128"/>
                      </a:endParaRPr>
                    </a:p>
                  </a:txBody>
                  <a:tcPr marL="75769" marR="75769" marT="50513" marB="50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5577516"/>
                  </a:ext>
                </a:extLst>
              </a:tr>
              <a:tr h="646566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TW" altLang="en-US" sz="1800" b="1">
                          <a:solidFill>
                            <a:srgbClr val="1F1F1F"/>
                          </a:solidFill>
                          <a:effectLst/>
                          <a:latin typeface="Source Han Serif K Heavy" panose="02020900000000000000" pitchFamily="18" charset="-128"/>
                          <a:ea typeface="Source Han Serif K Heavy" panose="02020900000000000000" pitchFamily="18" charset="-128"/>
                        </a:rPr>
                        <a:t>模組化香氛機</a:t>
                      </a:r>
                      <a:endParaRPr lang="zh-TW" altLang="en-US" sz="1800">
                        <a:solidFill>
                          <a:srgbClr val="1F1F1F"/>
                        </a:solidFill>
                        <a:effectLst/>
                        <a:latin typeface="Source Han Serif K Heavy" panose="02020900000000000000" pitchFamily="18" charset="-128"/>
                        <a:ea typeface="Source Han Serif K Heavy" panose="02020900000000000000" pitchFamily="18" charset="-128"/>
                      </a:endParaRPr>
                    </a:p>
                  </a:txBody>
                  <a:tcPr marL="75769" marR="75769" marT="50513" marB="50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b="1" dirty="0">
                          <a:solidFill>
                            <a:srgbClr val="1F1F1F"/>
                          </a:solidFill>
                          <a:effectLst/>
                          <a:latin typeface="Source Han Serif K Heavy" panose="02020900000000000000" pitchFamily="18" charset="-128"/>
                          <a:ea typeface="Source Han Serif K Heavy" panose="02020900000000000000" pitchFamily="18" charset="-128"/>
                        </a:rPr>
                        <a:t>Moodo</a:t>
                      </a:r>
                      <a:endParaRPr lang="en-US" sz="1800" dirty="0">
                        <a:solidFill>
                          <a:srgbClr val="1F1F1F"/>
                        </a:solidFill>
                        <a:effectLst/>
                        <a:latin typeface="Source Han Serif K Heavy" panose="02020900000000000000" pitchFamily="18" charset="-128"/>
                        <a:ea typeface="Source Han Serif K Heavy" panose="02020900000000000000" pitchFamily="18" charset="-128"/>
                      </a:endParaRPr>
                    </a:p>
                  </a:txBody>
                  <a:tcPr marL="75769" marR="75769" marT="50513" marB="50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TW" altLang="en-US" sz="1800">
                          <a:solidFill>
                            <a:srgbClr val="1F1F1F"/>
                          </a:solidFill>
                          <a:effectLst/>
                          <a:latin typeface="Source Han Serif K Heavy" panose="02020900000000000000" pitchFamily="18" charset="-128"/>
                          <a:ea typeface="Source Han Serif K Heavy" panose="02020900000000000000" pitchFamily="18" charset="-128"/>
                        </a:rPr>
                        <a:t>中高（</a:t>
                      </a:r>
                      <a:r>
                        <a:rPr lang="en-US" altLang="zh-TW" sz="1800">
                          <a:solidFill>
                            <a:srgbClr val="1F1F1F"/>
                          </a:solidFill>
                          <a:effectLst/>
                          <a:latin typeface="Source Han Serif K Heavy" panose="02020900000000000000" pitchFamily="18" charset="-128"/>
                          <a:ea typeface="Source Han Serif K Heavy" panose="02020900000000000000" pitchFamily="18" charset="-128"/>
                        </a:rPr>
                        <a:t>App </a:t>
                      </a:r>
                      <a:r>
                        <a:rPr lang="zh-TW" altLang="en-US" sz="1800">
                          <a:solidFill>
                            <a:srgbClr val="1F1F1F"/>
                          </a:solidFill>
                          <a:effectLst/>
                          <a:latin typeface="Source Han Serif K Heavy" panose="02020900000000000000" pitchFamily="18" charset="-128"/>
                          <a:ea typeface="Source Han Serif K Heavy" panose="02020900000000000000" pitchFamily="18" charset="-128"/>
                        </a:rPr>
                        <a:t>控制</a:t>
                      </a:r>
                      <a:r>
                        <a:rPr lang="en-US" altLang="zh-TW" sz="1800">
                          <a:solidFill>
                            <a:srgbClr val="1F1F1F"/>
                          </a:solidFill>
                          <a:effectLst/>
                          <a:latin typeface="Source Han Serif K Heavy" panose="02020900000000000000" pitchFamily="18" charset="-128"/>
                          <a:ea typeface="Source Han Serif K Heavy" panose="02020900000000000000" pitchFamily="18" charset="-128"/>
                        </a:rPr>
                        <a:t>/</a:t>
                      </a:r>
                      <a:r>
                        <a:rPr lang="zh-TW" altLang="en-US" sz="1800">
                          <a:solidFill>
                            <a:srgbClr val="1F1F1F"/>
                          </a:solidFill>
                          <a:effectLst/>
                          <a:latin typeface="Source Han Serif K Heavy" panose="02020900000000000000" pitchFamily="18" charset="-128"/>
                          <a:ea typeface="Source Han Serif K Heavy" panose="02020900000000000000" pitchFamily="18" charset="-128"/>
                        </a:rPr>
                        <a:t>膠囊混香）</a:t>
                      </a:r>
                    </a:p>
                  </a:txBody>
                  <a:tcPr marL="75769" marR="75769" marT="50513" marB="50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TW" altLang="en-US" sz="1800">
                          <a:solidFill>
                            <a:srgbClr val="1F1F1F"/>
                          </a:solidFill>
                          <a:effectLst/>
                          <a:latin typeface="Source Han Serif K Heavy" panose="02020900000000000000" pitchFamily="18" charset="-128"/>
                          <a:ea typeface="Source Han Serif K Heavy" panose="02020900000000000000" pitchFamily="18" charset="-128"/>
                        </a:rPr>
                        <a:t>單一（著重於氣味混搭）</a:t>
                      </a:r>
                    </a:p>
                  </a:txBody>
                  <a:tcPr marL="75769" marR="75769" marT="50513" marB="50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b="1" dirty="0">
                          <a:solidFill>
                            <a:srgbClr val="1F1F1F"/>
                          </a:solidFill>
                          <a:effectLst/>
                          <a:latin typeface="Source Han Serif K Heavy" panose="02020900000000000000" pitchFamily="18" charset="-128"/>
                          <a:ea typeface="Source Han Serif K Heavy" panose="02020900000000000000" pitchFamily="18" charset="-128"/>
                        </a:rPr>
                        <a:t>Q4</a:t>
                      </a:r>
                      <a:endParaRPr lang="en-US" sz="1800" dirty="0">
                        <a:solidFill>
                          <a:srgbClr val="1F1F1F"/>
                        </a:solidFill>
                        <a:effectLst/>
                        <a:latin typeface="Source Han Serif K Heavy" panose="02020900000000000000" pitchFamily="18" charset="-128"/>
                        <a:ea typeface="Source Han Serif K Heavy" panose="02020900000000000000" pitchFamily="18" charset="-128"/>
                      </a:endParaRPr>
                    </a:p>
                  </a:txBody>
                  <a:tcPr marL="75769" marR="75769" marT="50513" marB="50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72634"/>
                  </a:ext>
                </a:extLst>
              </a:tr>
              <a:tr h="646566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TW" altLang="en-US" sz="1800" b="1">
                          <a:solidFill>
                            <a:srgbClr val="1F1F1F"/>
                          </a:solidFill>
                          <a:effectLst/>
                          <a:latin typeface="Source Han Serif K Heavy" panose="02020900000000000000" pitchFamily="18" charset="-128"/>
                          <a:ea typeface="Source Han Serif K Heavy" panose="02020900000000000000" pitchFamily="18" charset="-128"/>
                        </a:rPr>
                        <a:t>大眾自動噴霧</a:t>
                      </a:r>
                      <a:endParaRPr lang="zh-TW" altLang="en-US" sz="1800">
                        <a:solidFill>
                          <a:srgbClr val="1F1F1F"/>
                        </a:solidFill>
                        <a:effectLst/>
                        <a:latin typeface="Source Han Serif K Heavy" panose="02020900000000000000" pitchFamily="18" charset="-128"/>
                        <a:ea typeface="Source Han Serif K Heavy" panose="02020900000000000000" pitchFamily="18" charset="-128"/>
                      </a:endParaRPr>
                    </a:p>
                  </a:txBody>
                  <a:tcPr marL="75769" marR="75769" marT="50513" marB="50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b="1" dirty="0">
                          <a:solidFill>
                            <a:srgbClr val="1F1F1F"/>
                          </a:solidFill>
                          <a:effectLst/>
                          <a:latin typeface="Source Han Serif K Heavy" panose="02020900000000000000" pitchFamily="18" charset="-128"/>
                          <a:ea typeface="Source Han Serif K Heavy" panose="02020900000000000000" pitchFamily="18" charset="-128"/>
                        </a:rPr>
                        <a:t>Air Wick</a:t>
                      </a:r>
                      <a:r>
                        <a:rPr lang="en-US" sz="1800" dirty="0">
                          <a:solidFill>
                            <a:srgbClr val="1F1F1F"/>
                          </a:solidFill>
                          <a:effectLst/>
                          <a:latin typeface="Source Han Serif K Heavy" panose="02020900000000000000" pitchFamily="18" charset="-128"/>
                          <a:ea typeface="Source Han Serif K Heavy" panose="02020900000000000000" pitchFamily="18" charset="-128"/>
                        </a:rPr>
                        <a:t>, </a:t>
                      </a:r>
                      <a:r>
                        <a:rPr lang="en-US" sz="1800" b="1" dirty="0">
                          <a:solidFill>
                            <a:srgbClr val="1F1F1F"/>
                          </a:solidFill>
                          <a:effectLst/>
                          <a:latin typeface="Source Han Serif K Heavy" panose="02020900000000000000" pitchFamily="18" charset="-128"/>
                          <a:ea typeface="Source Han Serif K Heavy" panose="02020900000000000000" pitchFamily="18" charset="-128"/>
                        </a:rPr>
                        <a:t>Glade</a:t>
                      </a:r>
                      <a:endParaRPr lang="en-US" sz="1800" dirty="0">
                        <a:solidFill>
                          <a:srgbClr val="1F1F1F"/>
                        </a:solidFill>
                        <a:effectLst/>
                        <a:latin typeface="Source Han Serif K Heavy" panose="02020900000000000000" pitchFamily="18" charset="-128"/>
                        <a:ea typeface="Source Han Serif K Heavy" panose="02020900000000000000" pitchFamily="18" charset="-128"/>
                      </a:endParaRPr>
                    </a:p>
                  </a:txBody>
                  <a:tcPr marL="75769" marR="75769" marT="50513" marB="50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TW" altLang="en-US" sz="1800">
                          <a:solidFill>
                            <a:srgbClr val="1F1F1F"/>
                          </a:solidFill>
                          <a:effectLst/>
                          <a:latin typeface="Source Han Serif K Heavy" panose="02020900000000000000" pitchFamily="18" charset="-128"/>
                          <a:ea typeface="Source Han Serif K Heavy" panose="02020900000000000000" pitchFamily="18" charset="-128"/>
                        </a:rPr>
                        <a:t>中（定時</a:t>
                      </a:r>
                      <a:r>
                        <a:rPr lang="en-US" altLang="zh-TW" sz="1800">
                          <a:solidFill>
                            <a:srgbClr val="1F1F1F"/>
                          </a:solidFill>
                          <a:effectLst/>
                          <a:latin typeface="Source Han Serif K Heavy" panose="02020900000000000000" pitchFamily="18" charset="-128"/>
                          <a:ea typeface="Source Han Serif K Heavy" panose="02020900000000000000" pitchFamily="18" charset="-128"/>
                        </a:rPr>
                        <a:t>/</a:t>
                      </a:r>
                      <a:r>
                        <a:rPr lang="zh-TW" altLang="en-US" sz="1800">
                          <a:solidFill>
                            <a:srgbClr val="1F1F1F"/>
                          </a:solidFill>
                          <a:effectLst/>
                          <a:latin typeface="Source Han Serif K Heavy" panose="02020900000000000000" pitchFamily="18" charset="-128"/>
                          <a:ea typeface="Source Han Serif K Heavy" panose="02020900000000000000" pitchFamily="18" charset="-128"/>
                        </a:rPr>
                        <a:t>紅外線感應）</a:t>
                      </a:r>
                    </a:p>
                  </a:txBody>
                  <a:tcPr marL="75769" marR="75769" marT="50513" marB="50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TW" altLang="en-US" sz="1800">
                          <a:solidFill>
                            <a:srgbClr val="1F1F1F"/>
                          </a:solidFill>
                          <a:effectLst/>
                          <a:latin typeface="Source Han Serif K Heavy" panose="02020900000000000000" pitchFamily="18" charset="-128"/>
                          <a:ea typeface="Source Han Serif K Heavy" panose="02020900000000000000" pitchFamily="18" charset="-128"/>
                        </a:rPr>
                        <a:t>單一（固定頻率噴灑）</a:t>
                      </a:r>
                    </a:p>
                  </a:txBody>
                  <a:tcPr marL="75769" marR="75769" marT="50513" marB="50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b="1" dirty="0">
                          <a:solidFill>
                            <a:srgbClr val="1F1F1F"/>
                          </a:solidFill>
                          <a:effectLst/>
                          <a:latin typeface="Source Han Serif K Heavy" panose="02020900000000000000" pitchFamily="18" charset="-128"/>
                          <a:ea typeface="Source Han Serif K Heavy" panose="02020900000000000000" pitchFamily="18" charset="-128"/>
                        </a:rPr>
                        <a:t>Q2</a:t>
                      </a:r>
                      <a:endParaRPr lang="en-US" sz="1800" dirty="0">
                        <a:solidFill>
                          <a:srgbClr val="1F1F1F"/>
                        </a:solidFill>
                        <a:effectLst/>
                        <a:latin typeface="Source Han Serif K Heavy" panose="02020900000000000000" pitchFamily="18" charset="-128"/>
                        <a:ea typeface="Source Han Serif K Heavy" panose="02020900000000000000" pitchFamily="18" charset="-128"/>
                      </a:endParaRPr>
                    </a:p>
                  </a:txBody>
                  <a:tcPr marL="75769" marR="75769" marT="50513" marB="50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6635430"/>
                  </a:ext>
                </a:extLst>
              </a:tr>
              <a:tr h="646566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TW" altLang="en-US" sz="1800" b="1">
                          <a:solidFill>
                            <a:srgbClr val="1F1F1F"/>
                          </a:solidFill>
                          <a:effectLst/>
                          <a:latin typeface="Source Han Serif K Heavy" panose="02020900000000000000" pitchFamily="18" charset="-128"/>
                          <a:ea typeface="Source Han Serif K Heavy" panose="02020900000000000000" pitchFamily="18" charset="-128"/>
                        </a:rPr>
                        <a:t>數位氣味科技</a:t>
                      </a:r>
                      <a:endParaRPr lang="zh-TW" altLang="en-US" sz="1800">
                        <a:solidFill>
                          <a:srgbClr val="1F1F1F"/>
                        </a:solidFill>
                        <a:effectLst/>
                        <a:latin typeface="Source Han Serif K Heavy" panose="02020900000000000000" pitchFamily="18" charset="-128"/>
                        <a:ea typeface="Source Han Serif K Heavy" panose="02020900000000000000" pitchFamily="18" charset="-128"/>
                      </a:endParaRPr>
                    </a:p>
                  </a:txBody>
                  <a:tcPr marL="75769" marR="75769" marT="50513" marB="50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b="1" dirty="0" err="1">
                          <a:solidFill>
                            <a:srgbClr val="1F1F1F"/>
                          </a:solidFill>
                          <a:effectLst/>
                          <a:latin typeface="Source Han Serif K Heavy" panose="02020900000000000000" pitchFamily="18" charset="-128"/>
                          <a:ea typeface="Source Han Serif K Heavy" panose="02020900000000000000" pitchFamily="18" charset="-128"/>
                        </a:rPr>
                        <a:t>Aromajoin</a:t>
                      </a:r>
                      <a:r>
                        <a:rPr lang="en-US" sz="1800" dirty="0">
                          <a:solidFill>
                            <a:srgbClr val="1F1F1F"/>
                          </a:solidFill>
                          <a:effectLst/>
                          <a:latin typeface="Source Han Serif K Heavy" panose="02020900000000000000" pitchFamily="18" charset="-128"/>
                          <a:ea typeface="Source Han Serif K Heavy" panose="02020900000000000000" pitchFamily="18" charset="-128"/>
                        </a:rPr>
                        <a:t>, </a:t>
                      </a:r>
                      <a:r>
                        <a:rPr lang="en-US" sz="1800" b="1" dirty="0" err="1">
                          <a:solidFill>
                            <a:srgbClr val="1F1F1F"/>
                          </a:solidFill>
                          <a:effectLst/>
                          <a:latin typeface="Source Han Serif K Heavy" panose="02020900000000000000" pitchFamily="18" charset="-128"/>
                          <a:ea typeface="Source Han Serif K Heavy" panose="02020900000000000000" pitchFamily="18" charset="-128"/>
                        </a:rPr>
                        <a:t>Sensorwake</a:t>
                      </a:r>
                      <a:endParaRPr lang="en-US" sz="1800" dirty="0">
                        <a:solidFill>
                          <a:srgbClr val="1F1F1F"/>
                        </a:solidFill>
                        <a:effectLst/>
                        <a:latin typeface="Source Han Serif K Heavy" panose="02020900000000000000" pitchFamily="18" charset="-128"/>
                        <a:ea typeface="Source Han Serif K Heavy" panose="02020900000000000000" pitchFamily="18" charset="-128"/>
                      </a:endParaRPr>
                    </a:p>
                  </a:txBody>
                  <a:tcPr marL="75769" marR="75769" marT="50513" marB="50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TW" altLang="en-US" sz="1800">
                          <a:solidFill>
                            <a:srgbClr val="1F1F1F"/>
                          </a:solidFill>
                          <a:effectLst/>
                          <a:latin typeface="Source Han Serif K Heavy" panose="02020900000000000000" pitchFamily="18" charset="-128"/>
                          <a:ea typeface="Source Han Serif K Heavy" panose="02020900000000000000" pitchFamily="18" charset="-128"/>
                        </a:rPr>
                        <a:t>極高（</a:t>
                      </a:r>
                      <a:r>
                        <a:rPr lang="en-US" altLang="zh-TW" sz="1800">
                          <a:solidFill>
                            <a:srgbClr val="1F1F1F"/>
                          </a:solidFill>
                          <a:effectLst/>
                          <a:latin typeface="Source Han Serif K Heavy" panose="02020900000000000000" pitchFamily="18" charset="-128"/>
                          <a:ea typeface="Source Han Serif K Heavy" panose="02020900000000000000" pitchFamily="18" charset="-128"/>
                        </a:rPr>
                        <a:t>API/</a:t>
                      </a:r>
                      <a:r>
                        <a:rPr lang="zh-TW" altLang="en-US" sz="1800">
                          <a:solidFill>
                            <a:srgbClr val="1F1F1F"/>
                          </a:solidFill>
                          <a:effectLst/>
                          <a:latin typeface="Source Han Serif K Heavy" panose="02020900000000000000" pitchFamily="18" charset="-128"/>
                          <a:ea typeface="Source Han Serif K Heavy" panose="02020900000000000000" pitchFamily="18" charset="-128"/>
                        </a:rPr>
                        <a:t>數位同步）</a:t>
                      </a:r>
                    </a:p>
                  </a:txBody>
                  <a:tcPr marL="75769" marR="75769" marT="50513" marB="50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TW" altLang="en-US" sz="1800">
                          <a:solidFill>
                            <a:srgbClr val="1F1F1F"/>
                          </a:solidFill>
                          <a:effectLst/>
                          <a:latin typeface="Source Han Serif K Heavy" panose="02020900000000000000" pitchFamily="18" charset="-128"/>
                          <a:ea typeface="Source Han Serif K Heavy" panose="02020900000000000000" pitchFamily="18" charset="-128"/>
                        </a:rPr>
                        <a:t>跨維度（影像</a:t>
                      </a:r>
                      <a:r>
                        <a:rPr lang="en-US" altLang="zh-TW" sz="1800">
                          <a:solidFill>
                            <a:srgbClr val="1F1F1F"/>
                          </a:solidFill>
                          <a:effectLst/>
                          <a:latin typeface="Source Han Serif K Heavy" panose="02020900000000000000" pitchFamily="18" charset="-128"/>
                          <a:ea typeface="Source Han Serif K Heavy" panose="02020900000000000000" pitchFamily="18" charset="-128"/>
                        </a:rPr>
                        <a:t>/</a:t>
                      </a:r>
                      <a:r>
                        <a:rPr lang="zh-TW" altLang="en-US" sz="1800">
                          <a:solidFill>
                            <a:srgbClr val="1F1F1F"/>
                          </a:solidFill>
                          <a:effectLst/>
                          <a:latin typeface="Source Han Serif K Heavy" panose="02020900000000000000" pitchFamily="18" charset="-128"/>
                          <a:ea typeface="Source Han Serif K Heavy" panose="02020900000000000000" pitchFamily="18" charset="-128"/>
                        </a:rPr>
                        <a:t>鬧鐘同步）</a:t>
                      </a:r>
                    </a:p>
                  </a:txBody>
                  <a:tcPr marL="75769" marR="75769" marT="50513" marB="50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b="1" dirty="0">
                          <a:solidFill>
                            <a:srgbClr val="1F1F1F"/>
                          </a:solidFill>
                          <a:effectLst/>
                          <a:latin typeface="Source Han Serif K Heavy" panose="02020900000000000000" pitchFamily="18" charset="-128"/>
                          <a:ea typeface="Source Han Serif K Heavy" panose="02020900000000000000" pitchFamily="18" charset="-128"/>
                        </a:rPr>
                        <a:t>Q1 (</a:t>
                      </a:r>
                      <a:r>
                        <a:rPr lang="zh-TW" altLang="en-US" sz="1800" b="1" dirty="0">
                          <a:solidFill>
                            <a:srgbClr val="1F1F1F"/>
                          </a:solidFill>
                          <a:effectLst/>
                          <a:latin typeface="Source Han Serif K Heavy" panose="02020900000000000000" pitchFamily="18" charset="-128"/>
                          <a:ea typeface="Source Han Serif K Heavy" panose="02020900000000000000" pitchFamily="18" charset="-128"/>
                        </a:rPr>
                        <a:t>潛在對手</a:t>
                      </a:r>
                      <a:r>
                        <a:rPr lang="en-US" altLang="zh-TW" sz="1800" b="1" dirty="0">
                          <a:solidFill>
                            <a:srgbClr val="1F1F1F"/>
                          </a:solidFill>
                          <a:effectLst/>
                          <a:latin typeface="Source Han Serif K Heavy" panose="02020900000000000000" pitchFamily="18" charset="-128"/>
                          <a:ea typeface="Source Han Serif K Heavy" panose="02020900000000000000" pitchFamily="18" charset="-128"/>
                        </a:rPr>
                        <a:t>)</a:t>
                      </a:r>
                      <a:endParaRPr lang="zh-TW" altLang="en-US" sz="1800" dirty="0">
                        <a:solidFill>
                          <a:srgbClr val="1F1F1F"/>
                        </a:solidFill>
                        <a:effectLst/>
                        <a:latin typeface="Source Han Serif K Heavy" panose="02020900000000000000" pitchFamily="18" charset="-128"/>
                        <a:ea typeface="Source Han Serif K Heavy" panose="02020900000000000000" pitchFamily="18" charset="-128"/>
                      </a:endParaRPr>
                    </a:p>
                  </a:txBody>
                  <a:tcPr marL="75769" marR="75769" marT="50513" marB="50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0418872"/>
                  </a:ext>
                </a:extLst>
              </a:tr>
              <a:tr h="646566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TW" altLang="en-US" sz="1800" b="1" dirty="0">
                          <a:solidFill>
                            <a:srgbClr val="1F1F1F"/>
                          </a:solidFill>
                          <a:effectLst/>
                          <a:latin typeface="Source Han Serif K Heavy" panose="02020900000000000000" pitchFamily="18" charset="-128"/>
                          <a:ea typeface="Source Han Serif K Heavy" panose="02020900000000000000" pitchFamily="18" charset="-128"/>
                        </a:rPr>
                        <a:t>傳統專櫃香氛</a:t>
                      </a:r>
                      <a:endParaRPr lang="zh-TW" altLang="en-US" sz="1800" dirty="0">
                        <a:solidFill>
                          <a:srgbClr val="1F1F1F"/>
                        </a:solidFill>
                        <a:effectLst/>
                        <a:latin typeface="Source Han Serif K Heavy" panose="02020900000000000000" pitchFamily="18" charset="-128"/>
                        <a:ea typeface="Source Han Serif K Heavy" panose="02020900000000000000" pitchFamily="18" charset="-128"/>
                      </a:endParaRPr>
                    </a:p>
                  </a:txBody>
                  <a:tcPr marL="75769" marR="75769" marT="50513" marB="50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b="1" dirty="0">
                          <a:solidFill>
                            <a:srgbClr val="1F1F1F"/>
                          </a:solidFill>
                          <a:effectLst/>
                          <a:latin typeface="Source Han Serif K Heavy" panose="02020900000000000000" pitchFamily="18" charset="-128"/>
                          <a:ea typeface="Source Han Serif K Heavy" panose="02020900000000000000" pitchFamily="18" charset="-128"/>
                        </a:rPr>
                        <a:t>Jo Malone</a:t>
                      </a:r>
                      <a:r>
                        <a:rPr lang="en-US" sz="1800" dirty="0">
                          <a:solidFill>
                            <a:srgbClr val="1F1F1F"/>
                          </a:solidFill>
                          <a:effectLst/>
                          <a:latin typeface="Source Han Serif K Heavy" panose="02020900000000000000" pitchFamily="18" charset="-128"/>
                          <a:ea typeface="Source Han Serif K Heavy" panose="02020900000000000000" pitchFamily="18" charset="-128"/>
                        </a:rPr>
                        <a:t>, </a:t>
                      </a:r>
                      <a:r>
                        <a:rPr lang="en-US" sz="1800" b="1" dirty="0" err="1">
                          <a:solidFill>
                            <a:srgbClr val="1F1F1F"/>
                          </a:solidFill>
                          <a:effectLst/>
                          <a:latin typeface="Source Han Serif K Heavy" panose="02020900000000000000" pitchFamily="18" charset="-128"/>
                          <a:ea typeface="Source Han Serif K Heavy" panose="02020900000000000000" pitchFamily="18" charset="-128"/>
                        </a:rPr>
                        <a:t>Diptyque</a:t>
                      </a:r>
                      <a:endParaRPr lang="en-US" sz="1800" dirty="0">
                        <a:solidFill>
                          <a:srgbClr val="1F1F1F"/>
                        </a:solidFill>
                        <a:effectLst/>
                        <a:latin typeface="Source Han Serif K Heavy" panose="02020900000000000000" pitchFamily="18" charset="-128"/>
                        <a:ea typeface="Source Han Serif K Heavy" panose="02020900000000000000" pitchFamily="18" charset="-128"/>
                      </a:endParaRPr>
                    </a:p>
                  </a:txBody>
                  <a:tcPr marL="75769" marR="75769" marT="50513" marB="50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TW" altLang="en-US" sz="1800">
                          <a:solidFill>
                            <a:srgbClr val="1F1F1F"/>
                          </a:solidFill>
                          <a:effectLst/>
                          <a:latin typeface="Source Han Serif K Heavy" panose="02020900000000000000" pitchFamily="18" charset="-128"/>
                          <a:ea typeface="Source Han Serif K Heavy" panose="02020900000000000000" pitchFamily="18" charset="-128"/>
                        </a:rPr>
                        <a:t>低（手動）</a:t>
                      </a:r>
                    </a:p>
                  </a:txBody>
                  <a:tcPr marL="75769" marR="75769" marT="50513" marB="50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TW" altLang="en-US" sz="1800">
                          <a:solidFill>
                            <a:srgbClr val="1F1F1F"/>
                          </a:solidFill>
                          <a:effectLst/>
                          <a:latin typeface="Source Han Serif K Heavy" panose="02020900000000000000" pitchFamily="18" charset="-128"/>
                          <a:ea typeface="Source Han Serif K Heavy" panose="02020900000000000000" pitchFamily="18" charset="-128"/>
                        </a:rPr>
                        <a:t>單一（美學與嗅覺）</a:t>
                      </a:r>
                    </a:p>
                  </a:txBody>
                  <a:tcPr marL="75769" marR="75769" marT="50513" marB="50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b="1" dirty="0">
                          <a:solidFill>
                            <a:srgbClr val="1F1F1F"/>
                          </a:solidFill>
                          <a:effectLst/>
                          <a:latin typeface="Source Han Serif K Heavy" panose="02020900000000000000" pitchFamily="18" charset="-128"/>
                          <a:ea typeface="Source Han Serif K Heavy" panose="02020900000000000000" pitchFamily="18" charset="-128"/>
                        </a:rPr>
                        <a:t>Q3</a:t>
                      </a:r>
                      <a:endParaRPr lang="en-US" sz="1800" dirty="0">
                        <a:solidFill>
                          <a:srgbClr val="1F1F1F"/>
                        </a:solidFill>
                        <a:effectLst/>
                        <a:latin typeface="Source Han Serif K Heavy" panose="02020900000000000000" pitchFamily="18" charset="-128"/>
                        <a:ea typeface="Source Han Serif K Heavy" panose="02020900000000000000" pitchFamily="18" charset="-128"/>
                      </a:endParaRPr>
                    </a:p>
                  </a:txBody>
                  <a:tcPr marL="75769" marR="75769" marT="50513" marB="50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595815"/>
                  </a:ext>
                </a:extLst>
              </a:tr>
              <a:tr h="646566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b="1">
                          <a:solidFill>
                            <a:srgbClr val="1F1F1F"/>
                          </a:solidFill>
                          <a:effectLst/>
                          <a:latin typeface="Source Han Serif K Heavy" panose="02020900000000000000" pitchFamily="18" charset="-128"/>
                          <a:ea typeface="Source Han Serif K Heavy" panose="02020900000000000000" pitchFamily="18" charset="-128"/>
                        </a:rPr>
                        <a:t>SCENT-IFY</a:t>
                      </a:r>
                      <a:endParaRPr lang="en-US" sz="1800">
                        <a:solidFill>
                          <a:srgbClr val="1F1F1F"/>
                        </a:solidFill>
                        <a:effectLst/>
                        <a:latin typeface="Source Han Serif K Heavy" panose="02020900000000000000" pitchFamily="18" charset="-128"/>
                        <a:ea typeface="Source Han Serif K Heavy" panose="02020900000000000000" pitchFamily="18" charset="-128"/>
                      </a:endParaRPr>
                    </a:p>
                  </a:txBody>
                  <a:tcPr marL="75769" marR="75769" marT="50513" marB="50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TW" altLang="en-US" sz="1800" b="1" dirty="0">
                          <a:solidFill>
                            <a:srgbClr val="1F1F1F"/>
                          </a:solidFill>
                          <a:effectLst/>
                          <a:latin typeface="Source Han Serif K Heavy" panose="02020900000000000000" pitchFamily="18" charset="-128"/>
                          <a:ea typeface="Source Han Serif K Heavy" panose="02020900000000000000" pitchFamily="18" charset="-128"/>
                        </a:rPr>
                        <a:t>我</a:t>
                      </a:r>
                      <a:endParaRPr lang="zh-TW" altLang="en-US" sz="1800" dirty="0">
                        <a:solidFill>
                          <a:srgbClr val="1F1F1F"/>
                        </a:solidFill>
                        <a:effectLst/>
                        <a:latin typeface="Source Han Serif K Heavy" panose="02020900000000000000" pitchFamily="18" charset="-128"/>
                        <a:ea typeface="Source Han Serif K Heavy" panose="02020900000000000000" pitchFamily="18" charset="-128"/>
                      </a:endParaRPr>
                    </a:p>
                  </a:txBody>
                  <a:tcPr marL="75769" marR="75769" marT="50513" marB="50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TW" altLang="en-US" sz="1800" b="1">
                          <a:solidFill>
                            <a:srgbClr val="1F1F1F"/>
                          </a:solidFill>
                          <a:effectLst/>
                          <a:latin typeface="Source Han Serif K Heavy" panose="02020900000000000000" pitchFamily="18" charset="-128"/>
                          <a:ea typeface="Source Han Serif K Heavy" panose="02020900000000000000" pitchFamily="18" charset="-128"/>
                        </a:rPr>
                        <a:t>極高 </a:t>
                      </a:r>
                      <a:r>
                        <a:rPr lang="en-US" altLang="zh-TW" sz="1800" b="1">
                          <a:solidFill>
                            <a:srgbClr val="1F1F1F"/>
                          </a:solidFill>
                          <a:effectLst/>
                          <a:latin typeface="Source Han Serif K Heavy" panose="02020900000000000000" pitchFamily="18" charset="-128"/>
                          <a:ea typeface="Source Han Serif K Heavy" panose="02020900000000000000" pitchFamily="18" charset="-128"/>
                        </a:rPr>
                        <a:t>(API </a:t>
                      </a:r>
                      <a:r>
                        <a:rPr lang="zh-TW" altLang="en-US" sz="1800" b="1">
                          <a:solidFill>
                            <a:srgbClr val="1F1F1F"/>
                          </a:solidFill>
                          <a:effectLst/>
                          <a:latin typeface="Source Han Serif K Heavy" panose="02020900000000000000" pitchFamily="18" charset="-128"/>
                          <a:ea typeface="Source Han Serif K Heavy" panose="02020900000000000000" pitchFamily="18" charset="-128"/>
                        </a:rPr>
                        <a:t>自動驅動</a:t>
                      </a:r>
                      <a:r>
                        <a:rPr lang="en-US" altLang="zh-TW" sz="1800" b="1">
                          <a:solidFill>
                            <a:srgbClr val="1F1F1F"/>
                          </a:solidFill>
                          <a:effectLst/>
                          <a:latin typeface="Source Han Serif K Heavy" panose="02020900000000000000" pitchFamily="18" charset="-128"/>
                          <a:ea typeface="Source Han Serif K Heavy" panose="02020900000000000000" pitchFamily="18" charset="-128"/>
                        </a:rPr>
                        <a:t>)</a:t>
                      </a:r>
                      <a:endParaRPr lang="zh-TW" altLang="en-US" sz="1800">
                        <a:solidFill>
                          <a:srgbClr val="1F1F1F"/>
                        </a:solidFill>
                        <a:effectLst/>
                        <a:latin typeface="Source Han Serif K Heavy" panose="02020900000000000000" pitchFamily="18" charset="-128"/>
                        <a:ea typeface="Source Han Serif K Heavy" panose="02020900000000000000" pitchFamily="18" charset="-128"/>
                      </a:endParaRPr>
                    </a:p>
                  </a:txBody>
                  <a:tcPr marL="75769" marR="75769" marT="50513" marB="50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TW" altLang="en-US" sz="1800" b="1">
                          <a:solidFill>
                            <a:srgbClr val="1F1F1F"/>
                          </a:solidFill>
                          <a:effectLst/>
                          <a:latin typeface="Source Han Serif K Heavy" panose="02020900000000000000" pitchFamily="18" charset="-128"/>
                          <a:ea typeface="Source Han Serif K Heavy" panose="02020900000000000000" pitchFamily="18" charset="-128"/>
                        </a:rPr>
                        <a:t>多維度 </a:t>
                      </a:r>
                      <a:r>
                        <a:rPr lang="en-US" altLang="zh-TW" sz="1800" b="1">
                          <a:solidFill>
                            <a:srgbClr val="1F1F1F"/>
                          </a:solidFill>
                          <a:effectLst/>
                          <a:latin typeface="Source Han Serif K Heavy" panose="02020900000000000000" pitchFamily="18" charset="-128"/>
                          <a:ea typeface="Source Han Serif K Heavy" panose="02020900000000000000" pitchFamily="18" charset="-128"/>
                        </a:rPr>
                        <a:t>(</a:t>
                      </a:r>
                      <a:r>
                        <a:rPr lang="zh-TW" altLang="en-US" sz="1800" b="1">
                          <a:solidFill>
                            <a:srgbClr val="1F1F1F"/>
                          </a:solidFill>
                          <a:effectLst/>
                          <a:latin typeface="Source Han Serif K Heavy" panose="02020900000000000000" pitchFamily="18" charset="-128"/>
                          <a:ea typeface="Source Han Serif K Heavy" panose="02020900000000000000" pitchFamily="18" charset="-128"/>
                        </a:rPr>
                        <a:t>音樂</a:t>
                      </a:r>
                      <a:r>
                        <a:rPr lang="en-US" altLang="zh-TW" sz="1800" b="1">
                          <a:solidFill>
                            <a:srgbClr val="1F1F1F"/>
                          </a:solidFill>
                          <a:effectLst/>
                          <a:latin typeface="Source Han Serif K Heavy" panose="02020900000000000000" pitchFamily="18" charset="-128"/>
                          <a:ea typeface="Source Han Serif K Heavy" panose="02020900000000000000" pitchFamily="18" charset="-128"/>
                        </a:rPr>
                        <a:t>+</a:t>
                      </a:r>
                      <a:r>
                        <a:rPr lang="zh-TW" altLang="en-US" sz="1800" b="1">
                          <a:solidFill>
                            <a:srgbClr val="1F1F1F"/>
                          </a:solidFill>
                          <a:effectLst/>
                          <a:latin typeface="Source Han Serif K Heavy" panose="02020900000000000000" pitchFamily="18" charset="-128"/>
                          <a:ea typeface="Source Han Serif K Heavy" panose="02020900000000000000" pitchFamily="18" charset="-128"/>
                        </a:rPr>
                        <a:t>天氣</a:t>
                      </a:r>
                      <a:r>
                        <a:rPr lang="en-US" altLang="zh-TW" sz="1800" b="1">
                          <a:solidFill>
                            <a:srgbClr val="1F1F1F"/>
                          </a:solidFill>
                          <a:effectLst/>
                          <a:latin typeface="Source Han Serif K Heavy" panose="02020900000000000000" pitchFamily="18" charset="-128"/>
                          <a:ea typeface="Source Han Serif K Heavy" panose="02020900000000000000" pitchFamily="18" charset="-128"/>
                        </a:rPr>
                        <a:t>+</a:t>
                      </a:r>
                      <a:r>
                        <a:rPr lang="zh-TW" altLang="en-US" sz="1800" b="1">
                          <a:solidFill>
                            <a:srgbClr val="1F1F1F"/>
                          </a:solidFill>
                          <a:effectLst/>
                          <a:latin typeface="Source Han Serif K Heavy" panose="02020900000000000000" pitchFamily="18" charset="-128"/>
                          <a:ea typeface="Source Han Serif K Heavy" panose="02020900000000000000" pitchFamily="18" charset="-128"/>
                        </a:rPr>
                        <a:t>氣味</a:t>
                      </a:r>
                      <a:r>
                        <a:rPr lang="en-US" altLang="zh-TW" sz="1800" b="1">
                          <a:solidFill>
                            <a:srgbClr val="1F1F1F"/>
                          </a:solidFill>
                          <a:effectLst/>
                          <a:latin typeface="Source Han Serif K Heavy" panose="02020900000000000000" pitchFamily="18" charset="-128"/>
                          <a:ea typeface="Source Han Serif K Heavy" panose="02020900000000000000" pitchFamily="18" charset="-128"/>
                        </a:rPr>
                        <a:t>)</a:t>
                      </a:r>
                      <a:endParaRPr lang="zh-TW" altLang="en-US" sz="1800">
                        <a:solidFill>
                          <a:srgbClr val="1F1F1F"/>
                        </a:solidFill>
                        <a:effectLst/>
                        <a:latin typeface="Source Han Serif K Heavy" panose="02020900000000000000" pitchFamily="18" charset="-128"/>
                        <a:ea typeface="Source Han Serif K Heavy" panose="02020900000000000000" pitchFamily="18" charset="-128"/>
                      </a:endParaRPr>
                    </a:p>
                  </a:txBody>
                  <a:tcPr marL="75769" marR="75769" marT="50513" marB="50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b="1" dirty="0">
                          <a:solidFill>
                            <a:srgbClr val="1F1F1F"/>
                          </a:solidFill>
                          <a:effectLst/>
                          <a:latin typeface="Source Han Serif K Heavy" panose="02020900000000000000" pitchFamily="18" charset="-128"/>
                          <a:ea typeface="Source Han Serif K Heavy" panose="02020900000000000000" pitchFamily="18" charset="-128"/>
                        </a:rPr>
                        <a:t>Q1</a:t>
                      </a:r>
                      <a:endParaRPr lang="en-US" sz="1800" dirty="0">
                        <a:solidFill>
                          <a:srgbClr val="1F1F1F"/>
                        </a:solidFill>
                        <a:effectLst/>
                        <a:latin typeface="Source Han Serif K Heavy" panose="02020900000000000000" pitchFamily="18" charset="-128"/>
                        <a:ea typeface="Source Han Serif K Heavy" panose="02020900000000000000" pitchFamily="18" charset="-128"/>
                      </a:endParaRPr>
                    </a:p>
                  </a:txBody>
                  <a:tcPr marL="75769" marR="75769" marT="50513" marB="50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34257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88181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FF9145-76E3-DF17-9B74-97A3A79E68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22935BA-A896-70AB-52EA-D5666E6921A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9264073" cy="7047345"/>
          </a:xfrm>
          <a:prstGeom prst="rect">
            <a:avLst/>
          </a:prstGeom>
          <a:solidFill>
            <a:srgbClr val="DED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4" name="直線接點 3">
            <a:extLst>
              <a:ext uri="{FF2B5EF4-FFF2-40B4-BE49-F238E27FC236}">
                <a16:creationId xmlns:a16="http://schemas.microsoft.com/office/drawing/2014/main" id="{727A0A26-781F-7BEE-1E8F-7076F0DED56E}"/>
              </a:ext>
            </a:extLst>
          </p:cNvPr>
          <p:cNvCxnSpPr>
            <a:cxnSpLocks/>
          </p:cNvCxnSpPr>
          <p:nvPr/>
        </p:nvCxnSpPr>
        <p:spPr>
          <a:xfrm>
            <a:off x="834670" y="599301"/>
            <a:ext cx="0" cy="1017744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  <a:alpha val="76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直線接點 5">
            <a:extLst>
              <a:ext uri="{FF2B5EF4-FFF2-40B4-BE49-F238E27FC236}">
                <a16:creationId xmlns:a16="http://schemas.microsoft.com/office/drawing/2014/main" id="{CF616FE0-1D54-2316-26DA-BFF88AD624F1}"/>
              </a:ext>
            </a:extLst>
          </p:cNvPr>
          <p:cNvCxnSpPr>
            <a:cxnSpLocks/>
          </p:cNvCxnSpPr>
          <p:nvPr/>
        </p:nvCxnSpPr>
        <p:spPr>
          <a:xfrm>
            <a:off x="834670" y="1570873"/>
            <a:ext cx="2611174" cy="0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  <a:alpha val="76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5DDB69CA-2CD9-2CAB-8F0F-41F964944E4C}"/>
              </a:ext>
            </a:extLst>
          </p:cNvPr>
          <p:cNvCxnSpPr>
            <a:cxnSpLocks/>
          </p:cNvCxnSpPr>
          <p:nvPr/>
        </p:nvCxnSpPr>
        <p:spPr>
          <a:xfrm>
            <a:off x="3445844" y="599301"/>
            <a:ext cx="0" cy="1017744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  <a:alpha val="76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0">
            <a:extLst>
              <a:ext uri="{FF2B5EF4-FFF2-40B4-BE49-F238E27FC236}">
                <a16:creationId xmlns:a16="http://schemas.microsoft.com/office/drawing/2014/main" id="{5429C4A6-201A-1B95-8917-14BAFCF2092B}"/>
              </a:ext>
            </a:extLst>
          </p:cNvPr>
          <p:cNvCxnSpPr>
            <a:cxnSpLocks/>
          </p:cNvCxnSpPr>
          <p:nvPr/>
        </p:nvCxnSpPr>
        <p:spPr>
          <a:xfrm>
            <a:off x="834670" y="590027"/>
            <a:ext cx="2611174" cy="0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  <a:alpha val="76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485FBC9C-8372-44F2-0EAD-918AD540A93A}"/>
              </a:ext>
            </a:extLst>
          </p:cNvPr>
          <p:cNvSpPr/>
          <p:nvPr/>
        </p:nvSpPr>
        <p:spPr>
          <a:xfrm>
            <a:off x="834670" y="585397"/>
            <a:ext cx="2611173" cy="980840"/>
          </a:xfrm>
          <a:prstGeom prst="rect">
            <a:avLst/>
          </a:prstGeom>
          <a:solidFill>
            <a:schemeClr val="tx1">
              <a:lumMod val="65000"/>
              <a:lumOff val="35000"/>
              <a:alpha val="7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84D73293-19DA-5D81-634D-26E76074E54A}"/>
              </a:ext>
            </a:extLst>
          </p:cNvPr>
          <p:cNvSpPr txBox="1"/>
          <p:nvPr/>
        </p:nvSpPr>
        <p:spPr>
          <a:xfrm>
            <a:off x="168292" y="723452"/>
            <a:ext cx="394392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spc="230" dirty="0">
                <a:solidFill>
                  <a:srgbClr val="A4E0B8"/>
                </a:solidFill>
                <a:latin typeface="思源宋體 Heavy" panose="02020900000000000000" pitchFamily="18" charset="-120"/>
                <a:ea typeface="思源宋體 Heavy" panose="02020900000000000000" pitchFamily="18" charset="-120"/>
              </a:rPr>
              <a:t>競爭分析</a:t>
            </a:r>
          </a:p>
        </p:txBody>
      </p: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8A3842E7-3493-85A5-A24B-B36AF5A49E6A}"/>
              </a:ext>
            </a:extLst>
          </p:cNvPr>
          <p:cNvCxnSpPr>
            <a:cxnSpLocks/>
          </p:cNvCxnSpPr>
          <p:nvPr/>
        </p:nvCxnSpPr>
        <p:spPr>
          <a:xfrm flipV="1">
            <a:off x="4527440" y="1363696"/>
            <a:ext cx="0" cy="4644989"/>
          </a:xfrm>
          <a:prstGeom prst="straightConnector1">
            <a:avLst/>
          </a:prstGeom>
          <a:ln w="60325">
            <a:solidFill>
              <a:srgbClr val="5F8670"/>
            </a:solidFill>
            <a:tailEnd type="triangle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A7DB0E18-15A6-9D1A-452D-B19E5D1EBB8F}"/>
              </a:ext>
            </a:extLst>
          </p:cNvPr>
          <p:cNvCxnSpPr>
            <a:cxnSpLocks/>
          </p:cNvCxnSpPr>
          <p:nvPr/>
        </p:nvCxnSpPr>
        <p:spPr>
          <a:xfrm>
            <a:off x="1489424" y="3811604"/>
            <a:ext cx="6076033" cy="0"/>
          </a:xfrm>
          <a:prstGeom prst="straightConnector1">
            <a:avLst/>
          </a:prstGeom>
          <a:ln w="60325">
            <a:solidFill>
              <a:srgbClr val="5F8670"/>
            </a:solidFill>
            <a:tailEnd type="triangle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C5C11B7A-DB50-285E-BED9-1E99393F5F3F}"/>
              </a:ext>
            </a:extLst>
          </p:cNvPr>
          <p:cNvSpPr txBox="1"/>
          <p:nvPr/>
        </p:nvSpPr>
        <p:spPr>
          <a:xfrm>
            <a:off x="7519616" y="3626938"/>
            <a:ext cx="17902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rgbClr val="5F8670"/>
                </a:solidFill>
                <a:latin typeface="源流明體月 M" panose="02020500000000000000" pitchFamily="18" charset="-120"/>
                <a:ea typeface="源流明體月 M" panose="02020500000000000000" pitchFamily="18" charset="-120"/>
              </a:rPr>
              <a:t>自動化程度</a:t>
            </a:r>
          </a:p>
        </p:txBody>
      </p:sp>
      <p:sp>
        <p:nvSpPr>
          <p:cNvPr id="26" name="矩形: 圓角 25">
            <a:extLst>
              <a:ext uri="{FF2B5EF4-FFF2-40B4-BE49-F238E27FC236}">
                <a16:creationId xmlns:a16="http://schemas.microsoft.com/office/drawing/2014/main" id="{892656ED-6D6B-C3A8-D2CF-B79371017072}"/>
              </a:ext>
            </a:extLst>
          </p:cNvPr>
          <p:cNvSpPr/>
          <p:nvPr/>
        </p:nvSpPr>
        <p:spPr>
          <a:xfrm>
            <a:off x="562426" y="4186535"/>
            <a:ext cx="1241655" cy="251726"/>
          </a:xfrm>
          <a:prstGeom prst="roundRect">
            <a:avLst/>
          </a:prstGeom>
          <a:solidFill>
            <a:srgbClr val="466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latin typeface="Source Han Serif K Heavy" panose="02020900000000000000" pitchFamily="18" charset="-128"/>
                <a:ea typeface="Source Han Serif K Heavy" panose="02020900000000000000" pitchFamily="18" charset="-128"/>
              </a:rPr>
              <a:t>Manual</a:t>
            </a:r>
            <a:endParaRPr lang="zh-TW" altLang="en-US" dirty="0"/>
          </a:p>
        </p:txBody>
      </p:sp>
      <p:sp>
        <p:nvSpPr>
          <p:cNvPr id="28" name="矩形: 圓角 27">
            <a:extLst>
              <a:ext uri="{FF2B5EF4-FFF2-40B4-BE49-F238E27FC236}">
                <a16:creationId xmlns:a16="http://schemas.microsoft.com/office/drawing/2014/main" id="{E1677218-F829-761C-4618-8B02F6328D36}"/>
              </a:ext>
            </a:extLst>
          </p:cNvPr>
          <p:cNvSpPr/>
          <p:nvPr/>
        </p:nvSpPr>
        <p:spPr>
          <a:xfrm>
            <a:off x="6980548" y="4189819"/>
            <a:ext cx="1936910" cy="251746"/>
          </a:xfrm>
          <a:prstGeom prst="roundRect">
            <a:avLst/>
          </a:prstGeom>
          <a:solidFill>
            <a:srgbClr val="466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latin typeface="Source Han Serif K Heavy" panose="02020900000000000000" pitchFamily="18" charset="-128"/>
                <a:ea typeface="Source Han Serif K Heavy" panose="02020900000000000000" pitchFamily="18" charset="-128"/>
              </a:rPr>
              <a:t>Automated</a:t>
            </a:r>
            <a:endParaRPr lang="zh-TW" altLang="en-US" dirty="0"/>
          </a:p>
        </p:txBody>
      </p:sp>
      <p:sp>
        <p:nvSpPr>
          <p:cNvPr id="32" name="矩形: 圓角 31">
            <a:extLst>
              <a:ext uri="{FF2B5EF4-FFF2-40B4-BE49-F238E27FC236}">
                <a16:creationId xmlns:a16="http://schemas.microsoft.com/office/drawing/2014/main" id="{CDBFFDE8-7D18-1697-5EED-CE606951AC0A}"/>
              </a:ext>
            </a:extLst>
          </p:cNvPr>
          <p:cNvSpPr/>
          <p:nvPr/>
        </p:nvSpPr>
        <p:spPr>
          <a:xfrm>
            <a:off x="4081111" y="6165159"/>
            <a:ext cx="981778" cy="272364"/>
          </a:xfrm>
          <a:prstGeom prst="roundRect">
            <a:avLst/>
          </a:prstGeom>
          <a:solidFill>
            <a:srgbClr val="466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latin typeface="Source Han Serif K Heavy" panose="02020900000000000000" pitchFamily="18" charset="-128"/>
                <a:ea typeface="Source Han Serif K Heavy" panose="02020900000000000000" pitchFamily="18" charset="-128"/>
              </a:rPr>
              <a:t>Single</a:t>
            </a:r>
            <a:endParaRPr lang="zh-TW" altLang="en-US" dirty="0">
              <a:latin typeface="Source Han Serif K Heavy" panose="02020900000000000000" pitchFamily="18" charset="-128"/>
              <a:ea typeface="Source Han Serif K Heavy" panose="02020900000000000000" pitchFamily="18" charset="-128"/>
            </a:endParaRP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4F8E3E82-C8B6-F1E9-4779-BA32BC202BC8}"/>
              </a:ext>
            </a:extLst>
          </p:cNvPr>
          <p:cNvSpPr txBox="1"/>
          <p:nvPr/>
        </p:nvSpPr>
        <p:spPr>
          <a:xfrm>
            <a:off x="3765792" y="826105"/>
            <a:ext cx="22811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rgbClr val="5F8670"/>
                </a:solidFill>
                <a:latin typeface="源流明體月 M" panose="02020500000000000000" pitchFamily="18" charset="-120"/>
                <a:ea typeface="源流明體月 M" panose="02020500000000000000" pitchFamily="18" charset="-120"/>
              </a:rPr>
              <a:t>感官連結維度</a:t>
            </a:r>
          </a:p>
          <a:p>
            <a:endParaRPr lang="zh-TW" altLang="en-US" dirty="0"/>
          </a:p>
        </p:txBody>
      </p:sp>
      <p:sp>
        <p:nvSpPr>
          <p:cNvPr id="34" name="矩形: 圓角 33">
            <a:extLst>
              <a:ext uri="{FF2B5EF4-FFF2-40B4-BE49-F238E27FC236}">
                <a16:creationId xmlns:a16="http://schemas.microsoft.com/office/drawing/2014/main" id="{5F490030-26A2-F44B-0990-379DB3F74534}"/>
              </a:ext>
            </a:extLst>
          </p:cNvPr>
          <p:cNvSpPr/>
          <p:nvPr/>
        </p:nvSpPr>
        <p:spPr>
          <a:xfrm>
            <a:off x="3765792" y="421128"/>
            <a:ext cx="2035889" cy="272364"/>
          </a:xfrm>
          <a:prstGeom prst="roundRect">
            <a:avLst/>
          </a:prstGeom>
          <a:solidFill>
            <a:srgbClr val="466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latin typeface="Source Han Serif K Heavy" panose="02020900000000000000" pitchFamily="18" charset="-128"/>
                <a:ea typeface="Source Han Serif K Heavy" panose="02020900000000000000" pitchFamily="18" charset="-128"/>
              </a:rPr>
              <a:t>Cross-modal</a:t>
            </a:r>
            <a:endParaRPr lang="zh-TW" altLang="en-US" dirty="0">
              <a:latin typeface="Source Han Serif K Heavy" panose="02020900000000000000" pitchFamily="18" charset="-128"/>
              <a:ea typeface="Source Han Serif K Heavy" panose="02020900000000000000" pitchFamily="18" charset="-128"/>
            </a:endParaRPr>
          </a:p>
        </p:txBody>
      </p:sp>
      <p:sp>
        <p:nvSpPr>
          <p:cNvPr id="60" name="矩形: 圓角 59">
            <a:extLst>
              <a:ext uri="{FF2B5EF4-FFF2-40B4-BE49-F238E27FC236}">
                <a16:creationId xmlns:a16="http://schemas.microsoft.com/office/drawing/2014/main" id="{0DA2836D-6AEA-F98E-5F18-C7A83A70E8C4}"/>
              </a:ext>
            </a:extLst>
          </p:cNvPr>
          <p:cNvSpPr/>
          <p:nvPr/>
        </p:nvSpPr>
        <p:spPr>
          <a:xfrm>
            <a:off x="4942662" y="4126552"/>
            <a:ext cx="1936907" cy="1456043"/>
          </a:xfrm>
          <a:prstGeom prst="round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0688797B-6B36-067E-2F2D-77FE41FE1BCE}"/>
              </a:ext>
            </a:extLst>
          </p:cNvPr>
          <p:cNvSpPr txBox="1"/>
          <p:nvPr/>
        </p:nvSpPr>
        <p:spPr>
          <a:xfrm>
            <a:off x="5546745" y="4415356"/>
            <a:ext cx="467787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800" b="1" dirty="0">
                <a:solidFill>
                  <a:srgbClr val="1F1F1F"/>
                </a:solidFill>
                <a:effectLst/>
                <a:latin typeface="Source Han Serif K Heavy" panose="02020900000000000000" pitchFamily="18" charset="-128"/>
                <a:ea typeface="Source Han Serif K Heavy" panose="02020900000000000000" pitchFamily="18" charset="-128"/>
              </a:rPr>
              <a:t>Aera</a:t>
            </a:r>
          </a:p>
          <a:p>
            <a:endParaRPr lang="en-US" altLang="zh-TW" b="1" dirty="0">
              <a:solidFill>
                <a:srgbClr val="1F1F1F"/>
              </a:solidFill>
              <a:latin typeface="Source Han Serif K Heavy" panose="02020900000000000000" pitchFamily="18" charset="-128"/>
              <a:ea typeface="Source Han Serif K Heavy" panose="02020900000000000000" pitchFamily="18" charset="-128"/>
            </a:endParaRPr>
          </a:p>
          <a:p>
            <a:r>
              <a:rPr lang="en-US" altLang="zh-TW" b="1" dirty="0">
                <a:solidFill>
                  <a:srgbClr val="1F1F1F"/>
                </a:solidFill>
                <a:latin typeface="Source Han Serif K Heavy" panose="02020900000000000000" pitchFamily="18" charset="-128"/>
                <a:ea typeface="Source Han Serif K Heavy" panose="02020900000000000000" pitchFamily="18" charset="-128"/>
              </a:rPr>
              <a:t>Pura</a:t>
            </a:r>
            <a:endParaRPr lang="zh-TW" altLang="en-US" dirty="0"/>
          </a:p>
        </p:txBody>
      </p:sp>
      <p:sp>
        <p:nvSpPr>
          <p:cNvPr id="61" name="矩形: 圓角 60">
            <a:extLst>
              <a:ext uri="{FF2B5EF4-FFF2-40B4-BE49-F238E27FC236}">
                <a16:creationId xmlns:a16="http://schemas.microsoft.com/office/drawing/2014/main" id="{A0B3CA0E-B014-627F-FAC1-2009E9C89F89}"/>
              </a:ext>
            </a:extLst>
          </p:cNvPr>
          <p:cNvSpPr/>
          <p:nvPr/>
        </p:nvSpPr>
        <p:spPr>
          <a:xfrm>
            <a:off x="2256007" y="4099277"/>
            <a:ext cx="1936907" cy="1456043"/>
          </a:xfrm>
          <a:prstGeom prst="round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52" name="圖片 51" descr="一張含有 字型, 文字, 黑色, 圖形 的圖片&#10;&#10;AI 產生的內容可能不正確。">
            <a:extLst>
              <a:ext uri="{FF2B5EF4-FFF2-40B4-BE49-F238E27FC236}">
                <a16:creationId xmlns:a16="http://schemas.microsoft.com/office/drawing/2014/main" id="{560FED0B-C727-F154-4976-7509CEA91F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0662" y="4317883"/>
            <a:ext cx="1670449" cy="493819"/>
          </a:xfrm>
          <a:prstGeom prst="rect">
            <a:avLst/>
          </a:prstGeom>
        </p:spPr>
      </p:pic>
      <p:sp>
        <p:nvSpPr>
          <p:cNvPr id="62" name="矩形: 圓角 61">
            <a:extLst>
              <a:ext uri="{FF2B5EF4-FFF2-40B4-BE49-F238E27FC236}">
                <a16:creationId xmlns:a16="http://schemas.microsoft.com/office/drawing/2014/main" id="{26693926-5467-DB47-9498-108A5A37A236}"/>
              </a:ext>
            </a:extLst>
          </p:cNvPr>
          <p:cNvSpPr/>
          <p:nvPr/>
        </p:nvSpPr>
        <p:spPr>
          <a:xfrm>
            <a:off x="2277432" y="1926657"/>
            <a:ext cx="1936907" cy="1456043"/>
          </a:xfrm>
          <a:prstGeom prst="round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4" name="文字方塊 63">
            <a:extLst>
              <a:ext uri="{FF2B5EF4-FFF2-40B4-BE49-F238E27FC236}">
                <a16:creationId xmlns:a16="http://schemas.microsoft.com/office/drawing/2014/main" id="{B97EC0AB-6763-CAAE-AAF7-560C2668995E}"/>
              </a:ext>
            </a:extLst>
          </p:cNvPr>
          <p:cNvSpPr txBox="1"/>
          <p:nvPr/>
        </p:nvSpPr>
        <p:spPr>
          <a:xfrm>
            <a:off x="2437597" y="2159168"/>
            <a:ext cx="147988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altLang="zh-TW" sz="1800" b="1" dirty="0">
                <a:solidFill>
                  <a:srgbClr val="1F1F1F"/>
                </a:solidFill>
                <a:effectLst/>
                <a:latin typeface="Source Han Serif K Heavy" panose="02020900000000000000" pitchFamily="18" charset="-128"/>
                <a:ea typeface="Source Han Serif K Heavy" panose="02020900000000000000" pitchFamily="18" charset="-128"/>
              </a:rPr>
              <a:t>Air Wick</a:t>
            </a:r>
            <a:endParaRPr lang="en-US" altLang="zh-TW" b="1" dirty="0">
              <a:solidFill>
                <a:srgbClr val="1F1F1F"/>
              </a:solidFill>
              <a:latin typeface="Source Han Serif K Heavy" panose="02020900000000000000" pitchFamily="18" charset="-128"/>
              <a:ea typeface="Source Han Serif K Heavy" panose="02020900000000000000" pitchFamily="18" charset="-128"/>
            </a:endParaRPr>
          </a:p>
          <a:p>
            <a:pPr rtl="0">
              <a:buNone/>
            </a:pPr>
            <a:r>
              <a:rPr lang="en-US" altLang="zh-TW" sz="1800" dirty="0">
                <a:solidFill>
                  <a:srgbClr val="1F1F1F"/>
                </a:solidFill>
                <a:effectLst/>
                <a:latin typeface="Source Han Serif K Heavy" panose="02020900000000000000" pitchFamily="18" charset="-128"/>
                <a:ea typeface="Source Han Serif K Heavy" panose="02020900000000000000" pitchFamily="18" charset="-128"/>
              </a:rPr>
              <a:t> </a:t>
            </a:r>
            <a:endParaRPr lang="en-US" altLang="zh-TW" dirty="0">
              <a:solidFill>
                <a:srgbClr val="1F1F1F"/>
              </a:solidFill>
              <a:latin typeface="Source Han Serif K Heavy" panose="02020900000000000000" pitchFamily="18" charset="-128"/>
              <a:ea typeface="Source Han Serif K Heavy" panose="02020900000000000000" pitchFamily="18" charset="-128"/>
            </a:endParaRPr>
          </a:p>
          <a:p>
            <a:pPr rtl="0">
              <a:buNone/>
            </a:pPr>
            <a:r>
              <a:rPr lang="en-US" altLang="zh-TW" sz="1800" b="1" dirty="0">
                <a:solidFill>
                  <a:srgbClr val="1F1F1F"/>
                </a:solidFill>
                <a:effectLst/>
                <a:latin typeface="Source Han Serif K Heavy" panose="02020900000000000000" pitchFamily="18" charset="-128"/>
                <a:ea typeface="Source Han Serif K Heavy" panose="02020900000000000000" pitchFamily="18" charset="-128"/>
              </a:rPr>
              <a:t>Glade</a:t>
            </a:r>
            <a:endParaRPr lang="en-US" altLang="zh-TW" sz="1800" dirty="0">
              <a:solidFill>
                <a:srgbClr val="1F1F1F"/>
              </a:solidFill>
              <a:effectLst/>
              <a:latin typeface="Source Han Serif K Heavy" panose="02020900000000000000" pitchFamily="18" charset="-128"/>
              <a:ea typeface="Source Han Serif K Heavy" panose="02020900000000000000" pitchFamily="18" charset="-128"/>
            </a:endParaRPr>
          </a:p>
        </p:txBody>
      </p:sp>
      <p:sp>
        <p:nvSpPr>
          <p:cNvPr id="65" name="矩形: 圓角 64">
            <a:extLst>
              <a:ext uri="{FF2B5EF4-FFF2-40B4-BE49-F238E27FC236}">
                <a16:creationId xmlns:a16="http://schemas.microsoft.com/office/drawing/2014/main" id="{59A86B29-73BB-8474-5212-BFCE1F0F1C3D}"/>
              </a:ext>
            </a:extLst>
          </p:cNvPr>
          <p:cNvSpPr/>
          <p:nvPr/>
        </p:nvSpPr>
        <p:spPr>
          <a:xfrm>
            <a:off x="4991201" y="1926657"/>
            <a:ext cx="1936907" cy="1456043"/>
          </a:xfrm>
          <a:prstGeom prst="roundRect">
            <a:avLst/>
          </a:prstGeom>
          <a:solidFill>
            <a:srgbClr val="F9F7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50" name="圖片 49" descr="一張含有 字型, 黑色, 圖形, 設計 的圖片&#10;&#10;AI 產生的內容可能不正確。">
            <a:extLst>
              <a:ext uri="{FF2B5EF4-FFF2-40B4-BE49-F238E27FC236}">
                <a16:creationId xmlns:a16="http://schemas.microsoft.com/office/drawing/2014/main" id="{63A9DD39-4EE8-FBD0-4437-A825096477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7711" y="2099944"/>
            <a:ext cx="1566808" cy="493819"/>
          </a:xfrm>
          <a:prstGeom prst="rect">
            <a:avLst/>
          </a:prstGeom>
        </p:spPr>
      </p:pic>
      <p:sp>
        <p:nvSpPr>
          <p:cNvPr id="59" name="文字方塊 58">
            <a:extLst>
              <a:ext uri="{FF2B5EF4-FFF2-40B4-BE49-F238E27FC236}">
                <a16:creationId xmlns:a16="http://schemas.microsoft.com/office/drawing/2014/main" id="{2E7BEC56-B731-EE0C-0132-F25CDEEBEFF6}"/>
              </a:ext>
            </a:extLst>
          </p:cNvPr>
          <p:cNvSpPr txBox="1"/>
          <p:nvPr/>
        </p:nvSpPr>
        <p:spPr>
          <a:xfrm>
            <a:off x="5182148" y="2930748"/>
            <a:ext cx="16844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Source Han Serif K Heavy" panose="02020900000000000000" pitchFamily="18" charset="-128"/>
                <a:ea typeface="Source Han Serif K Heavy" panose="02020900000000000000" pitchFamily="18" charset="-128"/>
              </a:rPr>
              <a:t>Scent to you</a:t>
            </a:r>
            <a:endParaRPr lang="zh-TW" altLang="en-US" dirty="0">
              <a:latin typeface="Source Han Serif K Heavy" panose="02020900000000000000" pitchFamily="18" charset="-128"/>
              <a:ea typeface="Source Han Serif K Heavy" panose="02020900000000000000" pitchFamily="18" charset="-128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55564614-3EEB-47D9-44F4-47F55F85EA3C}"/>
              </a:ext>
            </a:extLst>
          </p:cNvPr>
          <p:cNvSpPr txBox="1"/>
          <p:nvPr/>
        </p:nvSpPr>
        <p:spPr>
          <a:xfrm>
            <a:off x="5182148" y="2531630"/>
            <a:ext cx="48920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800" b="1" dirty="0" err="1">
                <a:solidFill>
                  <a:srgbClr val="1F1F1F"/>
                </a:solidFill>
                <a:effectLst/>
                <a:latin typeface="Source Han Serif K Heavy" panose="02020900000000000000" pitchFamily="18" charset="-128"/>
                <a:ea typeface="Source Han Serif K Heavy" panose="02020900000000000000" pitchFamily="18" charset="-128"/>
              </a:rPr>
              <a:t>Sensorwake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967639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512</TotalTime>
  <Words>1778</Words>
  <Application>Microsoft Office PowerPoint</Application>
  <PresentationFormat>如螢幕大小 (4:3)</PresentationFormat>
  <Paragraphs>134</Paragraphs>
  <Slides>7</Slides>
  <Notes>6</Notes>
  <HiddenSlides>0</HiddenSlides>
  <MMClips>0</MMClips>
  <ScaleCrop>false</ScaleCrop>
  <HeadingPairs>
    <vt:vector size="6" baseType="variant">
      <vt:variant>
        <vt:lpstr>使用字型</vt:lpstr>
      </vt:variant>
      <vt:variant>
        <vt:i4>10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8" baseType="lpstr">
      <vt:lpstr>Source Han Serif K Heavy</vt:lpstr>
      <vt:lpstr>思源宋體 Heavy</vt:lpstr>
      <vt:lpstr>源流明體丹 B</vt:lpstr>
      <vt:lpstr>源流明體丹 EL</vt:lpstr>
      <vt:lpstr>源流明體月 H</vt:lpstr>
      <vt:lpstr>源流明體月 M</vt:lpstr>
      <vt:lpstr>Aptos</vt:lpstr>
      <vt:lpstr>Arial</vt:lpstr>
      <vt:lpstr>Calibri</vt:lpstr>
      <vt:lpstr>Verdana Pro Black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昕叡 蔡</cp:lastModifiedBy>
  <cp:revision>27</cp:revision>
  <dcterms:created xsi:type="dcterms:W3CDTF">2013-01-27T09:14:16Z</dcterms:created>
  <dcterms:modified xsi:type="dcterms:W3CDTF">2026-01-14T03:20:36Z</dcterms:modified>
  <cp:category/>
</cp:coreProperties>
</file>